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3e1965f47d440f" /><Relationship Type="http://schemas.openxmlformats.org/officeDocument/2006/relationships/extended-properties" Target="/docProps/app.xml" Id="Reba130a0eab7457e" /><Relationship Type="http://schemas.openxmlformats.org/officeDocument/2006/relationships/officeDocument" Target="/ppt/presentation.xml" Id="R446761e847254f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b2343e109a483e"/>
  </p:sldMasterIdLst>
  <p:notesMasterIdLst>
    <p:notesMasterId xmlns:r="http://schemas.openxmlformats.org/officeDocument/2006/relationships" r:id="Rb27e9fe2a2b44041"/>
  </p:notesMasterIdLst>
  <p:sldIdLst>
    <p:sldId xmlns:r="http://schemas.openxmlformats.org/officeDocument/2006/relationships" id="256" r:id="R2e7a9e848a984d1a"/>
    <p:sldId xmlns:r="http://schemas.openxmlformats.org/officeDocument/2006/relationships" id="257" r:id="Rda960f0183594ff4"/>
    <p:sldId xmlns:r="http://schemas.openxmlformats.org/officeDocument/2006/relationships" id="258" r:id="R649902263ce541d0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ce2754d1d74af3" /><Relationship Type="http://schemas.openxmlformats.org/officeDocument/2006/relationships/slideMaster" Target="/ppt/slideMasters/slideMaster1.xml" Id="Re5b2343e109a483e" /><Relationship Type="http://schemas.openxmlformats.org/officeDocument/2006/relationships/notesMaster" Target="/ppt/notesMasters/notesMaster1.xml" Id="Rb27e9fe2a2b44041" /><Relationship Type="http://schemas.openxmlformats.org/officeDocument/2006/relationships/presProps" Target="/ppt/presProps.xml" Id="Rfa6245c7f8b547aa" /><Relationship Type="http://schemas.openxmlformats.org/officeDocument/2006/relationships/tableStyles" Target="/ppt/tableStyles.xml" Id="R513b18b98ab64565" /><Relationship Type="http://schemas.openxmlformats.org/officeDocument/2006/relationships/slide" Target="/ppt/slides/slide1.xml" Id="R2e7a9e848a984d1a" /><Relationship Type="http://schemas.openxmlformats.org/officeDocument/2006/relationships/slide" Target="/ppt/slides/slide2.xml" Id="Rda960f0183594ff4" /><Relationship Type="http://schemas.openxmlformats.org/officeDocument/2006/relationships/slide" Target="/ppt/slides/slide3.xml" Id="R649902263ce541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c653d0705a44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4cd0d8b19b4536" /><Relationship Type="http://schemas.openxmlformats.org/officeDocument/2006/relationships/notesMaster" Target="/ppt/notesMasters/notesMaster1.xml" Id="R3f844776955e47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1f01e6a2974165" /><Relationship Type="http://schemas.openxmlformats.org/officeDocument/2006/relationships/notesMaster" Target="/ppt/notesMasters/notesMaster1.xml" Id="R576ee5e3570348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84c6ab7467474d" /><Relationship Type="http://schemas.openxmlformats.org/officeDocument/2006/relationships/notesMaster" Target="/ppt/notesMasters/notesMaster1.xml" Id="R1f9b9875b43e41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Guía de uso. Fuentes locales: auditar.bat, filtrar.bat, comparar.bat, dips_audit/__main__.py. Diseño basado en docs/Guia_BITS.pptx. Consolas distingue los bloques de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Guía de uso. Fuentes locales: config/discrepancias.yaml, dips_audit/discrepancias.py. Diseño basado en docs/Guia_BITS.pptx. Consolas distingue los bloques de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Guía de uso. Fuentes locales: config/config.yaml, dips_audit/referencias.py, DIPs References.xlsx. Diseño basado en docs/Guia_BITS.pptx. Consolas distingue los bloques de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d8ca701fa04f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b062655e3f440b" /><Relationship Type="http://schemas.openxmlformats.org/officeDocument/2006/relationships/slideLayout" Target="/ppt/slideLayouts/slideLayout1.xml" Id="R7b703303180742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703303180742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9688a1d7b4901" /><Relationship Type="http://schemas.openxmlformats.org/officeDocument/2006/relationships/image" Target="/ppt/media/image.png" Id="R30cd2a2d0fcc41e2" /><Relationship Type="http://schemas.openxmlformats.org/officeDocument/2006/relationships/image" Target="/ppt/media/image2.png" Id="R611c0e1fc944438c" /><Relationship Type="http://schemas.openxmlformats.org/officeDocument/2006/relationships/notesSlide" Target="/ppt/notesSlides/notesSlide1.xml" Id="R579cf72f650041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8430603894995" /><Relationship Type="http://schemas.openxmlformats.org/officeDocument/2006/relationships/image" Target="/ppt/media/image3.png" Id="R578704a933314efa" /><Relationship Type="http://schemas.openxmlformats.org/officeDocument/2006/relationships/image" Target="/ppt/media/image4.png" Id="R9fe55c2d84434fff" /><Relationship Type="http://schemas.openxmlformats.org/officeDocument/2006/relationships/notesSlide" Target="/ppt/notesSlides/notesSlide2.xml" Id="Rb5cf63950e0640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7ef9c7f8b4146" /><Relationship Type="http://schemas.openxmlformats.org/officeDocument/2006/relationships/image" Target="/ppt/media/image5.png" Id="Re87e8de7797b4967" /><Relationship Type="http://schemas.openxmlformats.org/officeDocument/2006/relationships/image" Target="/ppt/media/image6.png" Id="R0514d277df2544f5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3785c3a8fd064290" /><Relationship Type="http://schemas.openxmlformats.org/officeDocument/2006/relationships/notesSlide" Target="/ppt/notesSlides/notesSlide3.xml" Id="Rc3c709fe3b2c4a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3AC275-5888-4FB4-BCB4-5DA635E7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62352-96D1-4BCE-89F3-EE9BC88C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C1C9F-787A-4D68-844F-F2BB1498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D6B5D-F320-47C8-890E-898DD01F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E72F3-1A76-4FBA-9B85-7FE4BF2A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d2a2d0fcc41e2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610AD-5A71-4023-BA0B-8EE5D440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c0e1fc944438c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E36C0-3C83-4746-9DF0-39B10FA2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64B6B-4275-4955-963B-424AEC27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84FDE-B8B3-4050-BED7-417C0793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714500"/>
            <a:ext cx="9334500" cy="1276350"/>
          </a:xfrm>
          <a:prstGeom xmlns:a="http://schemas.openxmlformats.org/drawingml/2006/main" prst="roundRect">
            <a:avLst>
              <a:gd name="adj" fmla="val 11194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EBF98-5414-4216-B1A0-BA3C3F83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2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Consola: Símbolo del sistema (CMD)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41FF9-9A18-4C9C-B446-E0831D3B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87249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CMD en la carpeta DIPS. El símbolo &gt; indica la consola: escriba solo lo que sigue. Sustituya entrada.xlsx por su archivo, entre comillas.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42FC9-CE2B-4E11-8C54-D3C5DB08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81350"/>
            <a:ext cx="9334500" cy="26670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7DAC07-A9F0-4CDA-88FB-391535F3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8135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4B2A1-CB90-4DDB-BB1A-00783056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575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FDF21-23B1-48DE-81A4-9B056586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9565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1A806-F331-486C-B0C3-D195F745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FC3D0A-FA1A-4D1A-8C5A-65AD3A1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24325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424A5-E45E-489B-B28C-FB77D4D6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21005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0708BF-95CC-4F07-94CE-DADE2AC3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467225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setup.bat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BE2FC-A955-4F4C-83F9-0F9F07FD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768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Auditar con el Excel. También puede arrastrarlo sobre auditar.bat.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082B34-1A40-43B3-BF7A-848C76B8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29225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CE2B43-6A0C-4D69-A2E1-6F7DCF03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31495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4A4D8-E1FE-4E25-98BC-A1A4E3D4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72125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auditar.bat "entrada.xlsx"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A0DA9A-542F-44D3-B7BA-B0FA6F1D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6057900"/>
            <a:ext cx="9334500" cy="2895600"/>
          </a:xfrm>
          <a:prstGeom xmlns:a="http://schemas.openxmlformats.org/drawingml/2006/main" prst="roundRect">
            <a:avLst>
              <a:gd name="adj" fmla="val 49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4E061E-2880-454F-8B9C-75E7126D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605790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348A01-098D-4FF5-9162-837FDC4E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1341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BFF58D-B8B6-4183-90D3-02AA215F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17220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0D2B05-F3B7-416D-A4A5-50FD23D2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696075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22A38-F49F-4D73-855B-EB9C62B8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78180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2A795D-B7D9-4BA8-B6DB-BAB1C12B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038975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auditar.bat "entrada.xlsx" --icam --pendientes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BD6E96-C6C1-4B4E-98EE-643E0E4C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96175"/>
            <a:ext cx="872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--icam: lee los DIPs en ICAM y permite más chequeos. Inicie sesión si Edge la pide. Para volver a leer todo, agregue --no-cache.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C29083-0BFE-401A-ACE2-B8AF3F49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72450"/>
            <a:ext cx="8724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--pendientes: ACTV sin DIP Open Audit User y COMPLETE sin DIP Closed Audit User. Crea una copia FILTERED.xlsx junto al original. Quite esta opción para auditar todos.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7A9747-24AD-49FB-A745-FD2FA0F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34475"/>
            <a:ext cx="9334500" cy="2819400"/>
          </a:xfrm>
          <a:prstGeom xmlns:a="http://schemas.openxmlformats.org/drawingml/2006/main" prst="roundRect">
            <a:avLst>
              <a:gd name="adj" fmla="val 50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3A00AD-8C80-47C2-AD31-E5594AFF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34475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D4A072-EA6B-46E0-BAC1-4790E2D2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9210675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6FB352-F921-484F-9226-FF351423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9248775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OTRAS FUNCIONES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85C7EE-8B86-4CDC-9693-7446DC44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Un DIP por barcode real: resultado en consola.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31D2A8-0CED-49F4-9D38-EC555641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029825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095DE8-BF00-48FB-ABCB-750A6ECF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011555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4109B0-E329-4D0B-9EAB-5D20F297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0372725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auditar.bat T40S0099V9C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8310EE-A25E-45FC-98F4-C7309335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76325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Solo filtrar pendientes / comparar con la auditoría manual: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F98BB8-9A36-42C7-BC47-AA7CD954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077575"/>
            <a:ext cx="8915400" cy="809625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57FEC3-40A1-4F83-A568-C061C302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16330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939005-6015-4979-BB5C-5DDBF65C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420475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filtrar.bat "entrada.xlsx"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comparar.bat "entrada.xlsx" --icam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5A70E0-3B93-4D09-88A3-E7812BB8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2134850"/>
            <a:ext cx="9334500" cy="1419225"/>
          </a:xfrm>
          <a:prstGeom xmlns:a="http://schemas.openxmlformats.org/drawingml/2006/main" prst="roundRect">
            <a:avLst>
              <a:gd name="adj" fmla="val 10067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3A06AF-3022-44A7-9A71-98183966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25350"/>
            <a:ext cx="872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salidas/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C732E6-2634-452C-9A89-0D437C68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25400"/>
            <a:ext cx="8724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RESULTADO, HALLAZGOS y VERIFICACIÓN MANUAL.</a:t>
            </a:r>
          </a:p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el hallazgo. REVISAR: consultar manual.</a:t>
            </a:r>
          </a:p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FUENTE: revisar referencia. OK: completar verificaciones manuales.</a:t>
            </a:r>
          </a:p>
        </p:txBody>
      </p:sp>
    </p:spTree>
    <p:extLst>
      <p:ext uri="{BB962C8B-B14F-4D97-AF65-F5344CB8AC3E}">
        <p14:creationId xmlns:p14="http://schemas.microsoft.com/office/powerpoint/2010/main" val="11423933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74F684-CFC2-47DD-A751-669A41AA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8BA3F-5FD9-4F7D-9836-7B0873E9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C48BC-FDF6-46F2-9547-810AFD98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C6EE7-AAA2-409C-A1CA-42496E24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E5E88-E759-4DDC-8577-AC8874E6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704a933314efa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AFA93-573C-4F9B-B69A-33AF9BE2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55c2d84434fff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EA155-3CBE-4B77-B204-122B2F52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A0FF9-BD7B-4FD4-A70B-DB47D72B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6856B-B029-4B39-9E62-C6260B53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714500"/>
            <a:ext cx="9334500" cy="1276350"/>
          </a:xfrm>
          <a:prstGeom xmlns:a="http://schemas.openxmlformats.org/drawingml/2006/main" prst="roundRect">
            <a:avLst>
              <a:gd name="adj" fmla="val 11194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B3FB8-2C2E-47BC-A2BF-C5549339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2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Abra config/discrepancias.yaml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6621C-7295-462F-B625-70DF476A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87249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Busque la regla, cambie el valor y guarde. La siguiente auditoría aplica el cambio y comprueba el YAML. Conserve los códigos y la sangría con espacios.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5E2F0-19C0-497A-9A5D-DA51ED4C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81350"/>
            <a:ext cx="9334500" cy="2495550"/>
          </a:xfrm>
          <a:prstGeom xmlns:a="http://schemas.openxmlformats.org/drawingml/2006/main" prst="roundRect">
            <a:avLst>
              <a:gd name="adj" fmla="val 5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7D94F-BF40-406D-9755-8D421AF1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8135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D9FCB-14A7-4B17-82EB-09ADF4DC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575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CBA77-0BD8-4D07-86C2-63409FBB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9565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F8B3D-16BB-4205-9B8E-178EEA50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872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6FFB10-E3E0-4870-ADCC-7E41FE8C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891540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9A66E-BEFB-4AE4-A1DA-97B2245E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257675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454989-1141-4F98-A8AB-6222EA0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14850"/>
            <a:ext cx="8610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CRITICA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16D5F3-E0BB-4ECE-AFD6-A1EFD636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5867400"/>
            <a:ext cx="9334500" cy="2247900"/>
          </a:xfrm>
          <a:prstGeom xmlns:a="http://schemas.openxmlformats.org/drawingml/2006/main" prst="roundRect">
            <a:avLst>
              <a:gd name="adj" fmla="val 63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DB9CD-DA77-4C6A-A937-BA19EF5C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586740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7E283F-6BAB-4A06-9135-DED6E551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9436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591BAF-448D-446D-8342-F602EE22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98170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89F0E3-BC4B-4816-AC3E-12D27025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872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664A43-9788-44B4-96ED-76150ABB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38950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14DABC-0154-4C84-9D77-0CA399A3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924675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B331A0-8C89-4055-9BB6-4AA10C24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181850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CRITICA}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5725F9-4568-4727-AED0-B3184A14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9525"/>
            <a:ext cx="872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reactivarla, cambie false por true. Para desactivar todo un tipo, agregue activo: false a la misma altura que reglas:.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548A06-DABA-4592-B751-E77824C9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305800"/>
            <a:ext cx="9334500" cy="2895600"/>
          </a:xfrm>
          <a:prstGeom xmlns:a="http://schemas.openxmlformats.org/drawingml/2006/main" prst="roundRect">
            <a:avLst>
              <a:gd name="adj" fmla="val 49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BB5058-316D-4A84-A455-2EBABB12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30580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4E5F2B-3563-4A28-8B7A-5442CACD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3820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1443D0-71A9-4B5D-BD71-4B1EA110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842010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76" name=""/>
          <p:cNvGraphicFramePr/>
          <p:nvPr/>
        </p:nvGraphicFramePr>
        <p:xfrm>
          <a:off xmlns:a="http://schemas.openxmlformats.org/drawingml/2006/main" x="514350" y="8905875"/>
          <a:ext xmlns:a="http://schemas.openxmlformats.org/drawingml/2006/main" cx="87249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29125"/>
                <a:gridCol w="4295775"/>
              </a:tblGrid>
              <a:tr h="438150">
                <a:tc>
                  <a:txBody>
                    <a:bodyPr lIns="114300" tIns="76200" rIns="114300" bIns="7620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76200" rIns="114300" bIns="7620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38150"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CRITICA, NO CRITICA, 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CONSULTAR MANUAL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OBSERVACION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114300" bIns="7620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98B18D-D414-431F-B18C-ABEC3442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372850"/>
            <a:ext cx="872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FD1CC4-000F-41C8-9A0F-69A588AE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772900"/>
            <a:ext cx="8724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crear otro tipo, mueva allí reglas existentes sin duplicarlas y deje al menos una por tipo. Una condición de detección completamente nueva requiere que el mantenedor la implemente.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8DD730-3A82-4465-AAAE-CE8C9E73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6492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Comprobación opcional antes de auditar: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3A183D-092D-494C-80D5-0F3BAD94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973050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DDB4FB-2357-4F5C-8F05-6F7BE873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3058775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FCC812-E997-4FBE-8673-0967B7DE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3315950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.venv\Scripts\python -m dips_audit validar-reglas</a:t>
            </a:r>
          </a:p>
        </p:txBody>
      </p:sp>
    </p:spTree>
    <p:extLst>
      <p:ext uri="{BB962C8B-B14F-4D97-AF65-F5344CB8AC3E}">
        <p14:creationId xmlns:p14="http://schemas.microsoft.com/office/powerpoint/2010/main" val="2906359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0193B5-5EE1-46D1-BA67-79450E71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9B001-B2C3-488F-B81B-DDA4B784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F980D-79D1-44BF-9E63-E8CC49A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DF4CE-79C2-4A7D-A9FF-FA61452E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967E7-35B3-4DF8-B971-38D0CC49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e8de7797b4967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2F834-2334-4D4E-8346-9D1949F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4d277df2544f5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A0FD7-9C43-4451-BEA1-08007118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E6D80-E55F-4063-8740-D6AA8DA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F9EFE-E743-4A69-B9A7-4B8A1990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714500"/>
            <a:ext cx="9334500" cy="1123950"/>
          </a:xfrm>
          <a:prstGeom xmlns:a="http://schemas.openxmlformats.org/drawingml/2006/main" prst="roundRect">
            <a:avLst>
              <a:gd name="adj" fmla="val 12712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52977-1253-48CE-BA86-97595C39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2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¿Para qué sirve la tabla?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6A9EE-26CD-4D91-868C-604A6839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8724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Aporta el TA, RIR, Parent Assembly y la fuente técnica con los que el programa revisa cada DIP.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2B25D9-1F8D-4B86-8F11-F1CA56AD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028950"/>
            <a:ext cx="9334500" cy="25717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D68720-16EA-4357-910A-8431E291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02895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EDD703-48B6-4BA3-B35C-09E1D465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051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C0101-D522-418D-997E-252BC74F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14325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1CB4E-DE8C-479B-9488-FF7E5B1B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48075"/>
            <a:ext cx="8724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DIPs References.xlsx, en la carpeta DIPS.</a:t>
            </a:r>
          </a:p>
          <a:p xmlns:a="http://schemas.openxmlformats.org/drawingml/2006/main">
            <a:pPr>
              <a:defRPr sz="165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References.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18D1A-50F6-487C-9C26-E0D71A3A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00550"/>
            <a:ext cx="872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3785c3a8fd064290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207AF-1122-416C-BB25-9E331CDD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67275"/>
            <a:ext cx="872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config/config.yaml: referencias indica el archivo local, hoja_referencias la hoja y referencias_sharepoint el enlace. Para cambiar el enlace, copie la URL del archivo compartido.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56203E-E6BB-4364-A9B2-F2243F32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5791200"/>
            <a:ext cx="9334500" cy="280035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1EB0B1-0049-45A5-A07D-F212F98B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579120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13B03-8803-40D5-B78B-040C2108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674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10FB7A-1018-44CE-91F8-68EFDD6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90550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A1FFEE-E9CE-4591-AEA6-11863F6F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8724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del Excel con los valores aprobados. Conserve los encabezados y use una DESCRIPTION precisa para reconocer el componente.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A31497-65E0-4142-9103-AB3AF695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91375"/>
            <a:ext cx="8915400" cy="809625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DDCDEA-C273-4B70-B603-6C5D7E1F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277100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ENCABEZADOS DEL EXCEL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CF6954-6FFD-4E76-879C-E1E66C0B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534275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318336-F9D3-4B58-AE19-92B9334C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53400"/>
            <a:ext cx="872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Escriba TA y RIR con su unidad. Ejemplo de formato: 30 DAYS.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63FC0C-FF6E-487C-B766-AC480D4F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782050"/>
            <a:ext cx="9334500" cy="21717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98961D-8729-4932-A62E-778C9D96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78205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9F488-CFF9-402E-8114-E6314CA5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858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30F12B-5D66-4DD1-BA01-0E194F37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889635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48F5D5-3FD0-42D8-B346-BD07BD1F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420225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Primero intenta actualizar desde SharePoint. Inicie sesión en Edge si la pide. Si falla, usa la última copia válida descargada o el archivo local inicial.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67EF33-08C7-46DA-8131-E9F75C28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29850"/>
            <a:ext cx="872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consola indica la copia utilizada y su fecha. Si ninguna copia es válida, la auditoría se detiene.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3A8ECC-ABD5-40BD-9CC3-D013331C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1144250"/>
            <a:ext cx="9334500" cy="2409825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4307A0-B7D1-4CB3-BC5E-4749491E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1144250"/>
            <a:ext cx="93345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72F666-4722-4BA3-9A56-DFC1C62E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220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1DFDB0-C000-4F4F-82FE-14814FFF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1258550"/>
            <a:ext cx="8448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ELEGIR EL ARCHIVO LOCAL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73B572-9ED6-449E-B744-BD9F55EF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7348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Solo para una auditoría: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F667A1-8403-4467-A0D3-7A6E2501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077700"/>
            <a:ext cx="8915400" cy="619125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6F4C13-3559-4561-A601-A384E14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2163425"/>
            <a:ext cx="861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7F3E45C-FFD7-484F-A9EC-6527A810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2420600"/>
            <a:ext cx="8610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&gt; auditar.bat "entrada.xlsx" --referencias "DIPs References.xlsx"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B22534-9F8A-464D-B1DD-5D7026C9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801600"/>
            <a:ext cx="872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trabajar siempre con el local, guarde en config/config.yaml: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FF3DCC-8C56-49BC-A8A4-299E30F2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125450"/>
            <a:ext cx="8915400" cy="40957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200A9E-7D3E-48D2-85E7-2A97A284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3239750"/>
            <a:ext cx="861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referencias_sharepoint: ""</a:t>
            </a:r>
          </a:p>
        </p:txBody>
      </p:sp>
    </p:spTree>
    <p:extLst>
      <p:ext uri="{BB962C8B-B14F-4D97-AF65-F5344CB8AC3E}">
        <p14:creationId xmlns:p14="http://schemas.microsoft.com/office/powerpoint/2010/main" val="7699540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2026-10-05T18:04:04.8780000Z</dcterms:created>
  <dcterms:modified xsi:type="dcterms:W3CDTF">2026-10-05T18:04:04.8780000Z</dcterms:modified>
</coreProperties>
</file>