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16d67c7d1d4ea2" /><Relationship Type="http://schemas.openxmlformats.org/officeDocument/2006/relationships/extended-properties" Target="/docProps/app.xml" Id="Rc1d8596b213a4926" /><Relationship Type="http://schemas.openxmlformats.org/officeDocument/2006/relationships/officeDocument" Target="/ppt/presentation.xml" Id="R02dfa56d74ad47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0e0c2751374831"/>
  </p:sldMasterIdLst>
  <p:notesMasterIdLst>
    <p:notesMasterId xmlns:r="http://schemas.openxmlformats.org/officeDocument/2006/relationships" r:id="Rdf1f9d684bc347c2"/>
  </p:notesMasterIdLst>
  <p:sldIdLst>
    <p:sldId xmlns:r="http://schemas.openxmlformats.org/officeDocument/2006/relationships" id="256" r:id="Ra6c2fa0a309f4fd9"/>
    <p:sldId xmlns:r="http://schemas.openxmlformats.org/officeDocument/2006/relationships" id="257" r:id="Rb0875f77766c4979"/>
    <p:sldId xmlns:r="http://schemas.openxmlformats.org/officeDocument/2006/relationships" id="258" r:id="R87a94bce6f134c27"/>
    <p:sldId xmlns:r="http://schemas.openxmlformats.org/officeDocument/2006/relationships" id="259" r:id="R45be0c598c824c91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f8353d0e9d44ea" /><Relationship Type="http://schemas.openxmlformats.org/officeDocument/2006/relationships/slideMaster" Target="/ppt/slideMasters/slideMaster1.xml" Id="R2f0e0c2751374831" /><Relationship Type="http://schemas.openxmlformats.org/officeDocument/2006/relationships/notesMaster" Target="/ppt/notesMasters/notesMaster1.xml" Id="Rdf1f9d684bc347c2" /><Relationship Type="http://schemas.openxmlformats.org/officeDocument/2006/relationships/presProps" Target="/ppt/presProps.xml" Id="Reeb0d40884d7404f" /><Relationship Type="http://schemas.openxmlformats.org/officeDocument/2006/relationships/tableStyles" Target="/ppt/tableStyles.xml" Id="R61227bfc7f0f4964" /><Relationship Type="http://schemas.openxmlformats.org/officeDocument/2006/relationships/slide" Target="/ppt/slides/slide1.xml" Id="Ra6c2fa0a309f4fd9" /><Relationship Type="http://schemas.openxmlformats.org/officeDocument/2006/relationships/slide" Target="/ppt/slides/slide2.xml" Id="Rb0875f77766c4979" /><Relationship Type="http://schemas.openxmlformats.org/officeDocument/2006/relationships/slide" Target="/ppt/slides/slide3.xml" Id="R87a94bce6f134c27" /><Relationship Type="http://schemas.openxmlformats.org/officeDocument/2006/relationships/slide" Target="/ppt/slides/slide4.xml" Id="R45be0c598c824c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6bd84b8d6745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34b31f618c4311" /><Relationship Type="http://schemas.openxmlformats.org/officeDocument/2006/relationships/notesMaster" Target="/ppt/notesMasters/notesMaster1.xml" Id="Rc50791190ed24a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e92951189247f3" /><Relationship Type="http://schemas.openxmlformats.org/officeDocument/2006/relationships/notesMaster" Target="/ppt/notesMasters/notesMaster1.xml" Id="R6d7e42a7b71b44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5b88582dfb44d8" /><Relationship Type="http://schemas.openxmlformats.org/officeDocument/2006/relationships/notesMaster" Target="/ppt/notesMasters/notesMaster1.xml" Id="Raf96c04c540541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ae4963eeae4d92" /><Relationship Type="http://schemas.openxmlformats.org/officeDocument/2006/relationships/notesMaster" Target="/ppt/notesMasters/notesMaster1.xml" Id="R43dd5b73c8084d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auditar.bat, filtrar.bat, comparar.bat, dips_audit/__main__.py.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dips_audit/reporte.py (colores del Excel), dips_audit/reglas.py (prioridad), dips_audit/auditor.py (apertura y cierre).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config/config.yaml, dips_audit/referencias.py, dips_audit/fuente_referencias.py.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config/discrepancias.yaml, dips_audit/discrepancias.py.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dfb71cb2a146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71515fb4544f7f" /><Relationship Type="http://schemas.openxmlformats.org/officeDocument/2006/relationships/slideLayout" Target="/ppt/slideLayouts/slideLayout1.xml" Id="R2776401435b244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76401435b244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e19be38424171" /><Relationship Type="http://schemas.openxmlformats.org/officeDocument/2006/relationships/image" Target="/ppt/media/image.png" Id="Rf656e617e9424675" /><Relationship Type="http://schemas.openxmlformats.org/officeDocument/2006/relationships/image" Target="/ppt/media/image2.png" Id="Rbb60749dc68043c6" /><Relationship Type="http://schemas.openxmlformats.org/officeDocument/2006/relationships/notesSlide" Target="/ppt/notesSlides/notesSlide1.xml" Id="R7ce7553eaafe4a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4e9748fd64ed5" /><Relationship Type="http://schemas.openxmlformats.org/officeDocument/2006/relationships/image" Target="/ppt/media/image3.png" Id="R43d159ed8dd44634" /><Relationship Type="http://schemas.openxmlformats.org/officeDocument/2006/relationships/image" Target="/ppt/media/image4.png" Id="R73b941dcab374e9d" /><Relationship Type="http://schemas.openxmlformats.org/officeDocument/2006/relationships/notesSlide" Target="/ppt/notesSlides/notesSlide2.xml" Id="R8a95d5e4ff4b44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c63e593f4349b3" /><Relationship Type="http://schemas.openxmlformats.org/officeDocument/2006/relationships/image" Target="/ppt/media/image3.png" Id="R2182e17556644e8d" /><Relationship Type="http://schemas.openxmlformats.org/officeDocument/2006/relationships/image" Target="/ppt/media/image4.png" Id="R306e130d1a664a44" /><Relationship Type="http://schemas.openxmlformats.org/officeDocument/2006/relationships/hyperlink" Target="https://copaairlines.sharepoint.com/:x:/r/teams/VP_Tecnica/dacre/records/_layouts/15/doc2.aspx?sourcedoc={71427FA7-2DB0-4851-A5BA-63F30401684E}&amp;file=DIPs References.xlsx&amp;action=default&amp;mobileredirect=true" TargetMode="External" Id="Rb491143d2d624366" /><Relationship Type="http://schemas.openxmlformats.org/officeDocument/2006/relationships/notesSlide" Target="/ppt/notesSlides/notesSlide3.xml" Id="R24b4f458247b4c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79cc7dfd241d4" /><Relationship Type="http://schemas.openxmlformats.org/officeDocument/2006/relationships/image" Target="/ppt/media/image5.png" Id="R13bf0eb15ad84c28" /><Relationship Type="http://schemas.openxmlformats.org/officeDocument/2006/relationships/image" Target="/ppt/media/image6.png" Id="R785b0b46cbb8480e" /><Relationship Type="http://schemas.openxmlformats.org/officeDocument/2006/relationships/notesSlide" Target="/ppt/notesSlides/notesSlide4.xml" Id="R2e9b5f8555a441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F2F0F8-8344-452E-A759-16A366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BE106-8AD0-4A35-8FC0-D00D0B0F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29787-FF74-46BF-B7F1-2A53960C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E60D1-A261-4664-854B-7D954D0E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0F789-D394-4A04-AC07-C0BE9DC0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56e617e9424675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F34F-8C43-41EF-8384-0EC5BF69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60749dc68043c6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80BE5-8A58-4426-8962-125FE2A7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7939B-2FDB-4F30-9C19-8D440827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9CACB-AB02-4050-9B2B-66D06EF0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una terminal (CMD o PowerShell) en la carpeta DIPS.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29D9D-725F-429E-A33A-2CC886E6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esta guía,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$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un comando y se omite al escribirlo.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5040E-E27E-4D6A-8C20-1B154AA7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entrada.xlsx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el nombre o la ruta de su archivo.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45543-D062-4A6A-9511-AA8E0C87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238D4-5219-4067-A628-69FAF7EB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CF061-179D-4724-8894-28B23CD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EF477-7EB8-410A-B750-C8E27EC3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996E2-7B09-4772-8C99-D9D5E8BF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.\setup.bat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7A6D0-936C-4751-BE7D-C2231050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Después audite el Excel con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.\auditar.bat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o arrástrelo sobre ese archivo.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40A9C-90B0-414A-9343-5C4F6933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229DF-992A-412E-BAA6-D063002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0AFA40-858C-4377-BD27-3F6DDB1E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.\setup.bat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B8CB3-1BA1-4B86-B701-8674A962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C80422-6612-4407-AE7A-C0D4CDF7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F4924-7910-435D-A113-C69E3E5C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990DC-6990-4881-8474-803EE312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E5B093-AD59-4417-94F0-035D2762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149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155B97-C986-445C-BB46-0DEEB089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B0C92E-9165-47BC-ABC0-69680BD4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341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ADFE3-73F7-4EB5-834B-649F3322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627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--icam --pendientes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F5970-A726-4A87-BAE9-4D9293CC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38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--icam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consulta ICAM. Inicie sesión si Edge la pide.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E29782-F9A5-4AEE-B6EB-12FE4CD1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19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--pendientes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deja ACTV sin DIP Open Audit User 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DDA3BB-8A79-4F69-98F3-A0C58A8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8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sin DIP Closed Audit User. Quite la opción para auditar todos.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F396D7-4C97-4ED3-84B4-C8A2A981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77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Crea una copia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FILTERED.xlsx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junto al archivo original.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A1E759-9EF4-4BAC-834B-0BCD475D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048897-F14B-4BBF-B069-299AA93F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15FD33-7E83-47B2-A0C6-67B1A1D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4201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1147BB-F3B0-4D7E-AD1B-8F511FE6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486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CONSULTA POR BARCODE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3071D4-9D2E-43F6-B875-0527A112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72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Consulte un DIP en ICAM sin cargar un Excel.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05FCB9-A5C8-4003-BA58-1231D33D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01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el barcode de ejemplo por el barcode real.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41B29F-AE21-4034-82C6-D5B6AAD5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821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09FB56-A320-4FFC-B8BF-B29A2C5D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677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D23A8A-FB69-4ECC-8886-2F065FFE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T40S0099V9C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696CE1-E525-4E55-ABAF-68B61D36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382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muestra los datos, el resultado y los hallazgos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8BDCFA-C739-4A74-BC77-B7647FB3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108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la terminal. Esta consulta no genera un Excel de resultado.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35579B-BA03-4962-8DBA-D6C26DF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258550"/>
            <a:ext cx="9144000" cy="16859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3D96DF-171C-45C9-9518-B92B39FD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4905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Resultado: carpeta </a:t>
            </a:r>
            <a:r>
              <a:rPr sz="16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salida/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2E24A36-C1BA-4F81-AF1B-1A7379CB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395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Revise RESULTADO, HALLAZGOS y VERIFICACIÓN MANUAL.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149B9E-BCD0-45BB-BD56-B7DECE9F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681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página siguiente explica los seis resultados y sus colores.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765F617-971B-45E8-9440-8F476144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967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las verificaciones manuales indicadas en cada DIP.</a:t>
            </a:r>
          </a:p>
        </p:txBody>
      </p:sp>
    </p:spTree>
    <p:extLst>
      <p:ext uri="{BB962C8B-B14F-4D97-AF65-F5344CB8AC3E}">
        <p14:creationId xmlns:p14="http://schemas.microsoft.com/office/powerpoint/2010/main" val="458506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RESULTADOS Y COLORES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d159ed8dd44634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b941dcab374e9d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B0E82F-4000-4217-BDF6-B2598DC2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columna RESULTADO usa estos colores en el Excel de salida.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8D54DA-9B68-4505-9A50-41ABEC19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Cada resultado indica qué revisar. Lea también HALLAZGOS 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A599E3-7713-40B7-9AAF-D272C33B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VERIFICACIÓN MANUAL para conocer la evidencia y los pasos pendientes.</a:t>
            </a:r>
          </a:p>
        </p:txBody>
      </p:sp>
      <p:graphicFrame>
        <p:nvGraphicFramePr>
          <p:cNvPr id="68" name=""/>
          <p:cNvGraphicFramePr/>
          <p:nvPr/>
        </p:nvGraphicFramePr>
        <p:xfrm>
          <a:off xmlns:a="http://schemas.openxmlformats.org/drawingml/2006/main" x="533400" y="2857500"/>
          <a:ext xmlns:a="http://schemas.openxmlformats.org/drawingml/2006/main" cx="8686800" cy="9029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686800"/>
              </a:tblGrid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1. POSIBLE DISCREPANCIA (naranja)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programa detectó una posible discrepancia. Revise el hallazgo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y su evidencia antes de registrar la auditoría.</a:t>
                      </a:r>
                    </a:p>
                  </a:txBody>
                  <a:tcPr marL="91440" marR="91440" marT="45720" marB="45720">
                    <a:solidFill>
                      <a:srgbClr val="FCE3B0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2. CORREGIDO EN CIERRE (turquesa)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DIP COMPLETE: la apertura tuvo una posible discrepancia y el cierre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quedó OK. Revise ambos estados y complete la verificación manual.</a:t>
                      </a:r>
                    </a:p>
                  </a:txBody>
                  <a:tcPr marL="91440" marR="91440" marT="45720" marB="45720">
                    <a:solidFill>
                      <a:srgbClr val="CCEDE8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3. REVISAR (amarillo)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TA o el RIR depende del daño, de una condición o del manual.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Consulte la </a:t>
                      </a: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referencia técnica</a:t>
                      </a: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 para definir el límite aplicable.</a:t>
                      </a:r>
                    </a:p>
                  </a:txBody>
                  <a:tcPr marL="91440" marR="91440" marT="45720" marB="45720">
                    <a:solidFill>
                      <a:srgbClr val="FFF59D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4. SIN FUENTE EN DIPS REFERENCES (azul)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DIP no tiene una referencia asociada en el Excel de referencias.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Compruebe la fuente y complete los datos aprobados de la tabla.</a:t>
                      </a:r>
                    </a:p>
                  </a:txBody>
                  <a:tcPr marL="91440" marR="91440" marT="45720" marB="45720">
                    <a:solidFill>
                      <a:srgbClr val="D6E4F0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5. OK (verde)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La auditoría automática no detectó una posible discrepancia.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Complete los puntos pendientes en VERIFICACIÓN MANUAL.</a:t>
                      </a:r>
                    </a:p>
                  </a:txBody>
                  <a:tcPr marL="91440" marR="91440" marT="45720" marB="45720">
                    <a:solidFill>
                      <a:srgbClr val="C9E7C9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6. FUERA DE ALCANCE (gris)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tipo de DIP quedó fuera de los tipos elegidos para auditar.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programa no evaluó ese DIP en esta ejecución.</a:t>
                      </a:r>
                    </a:p>
                  </a:txBody>
                  <a:tcPr marL="91440" marR="91440" marT="45720" marB="45720">
                    <a:solidFill>
                      <a:srgbClr val="E4E4E4"/>
                    </a:solidFill>
                  </a:tcPr>
                </a:tc>
              </a:tr>
            </a:tbl>
          </a:graphicData>
        </a:graphic>
      </p:graphicFrame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178EC0C-A565-45A3-BA48-C47AD793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cada etapa prevalece POSIBLE DISCREPANCIA, luego REVISAR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642307-611E-46E0-89D5-610A1FE0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420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y después SIN FUENTE EN DIPS REFERENCES. Los demás hallazgos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4C217F4-45DD-4128-A033-A5A19CD4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49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siguen visibles. CORREGIDO EN CIERRE se calcula al comparar las etapas.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 DEL EXCEL</a:t>
            </a:r>
          </a:p>
        </p:txBody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82e17556644e8d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e130d1a664a44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22F829-6F84-45C1-99CB-D41DD153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usa DIPs References.xlsx como tabla de referencias.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EC4D27-AF33-4770-AF18-73607D31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Cada fila describe una referencia. Para cada DIP busca la fila aplicable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EDBE3C-9D23-43A2-99A5-8413AB27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y compara sus datos con el TA, el RIR y la fuente técnica de esa fila.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4138DF-2E9F-40BC-9958-8913DEE0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438400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C1EE58-AF21-4B63-A236-F615F8A6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102FB71-8573-43E1-9DA9-A914947F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9E4D73-3CBB-43C1-A469-316D4291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DE REFERENCIAS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1BAA40-6772-4104-89AA-318FF9F5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DIPs References.xlsx. Hoja: References.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1540C02-D34F-4102-A9F9-DABF5E38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b491143d2d624366"/>
              </a:rPr>
              <a:t>Abrir DIPs References.xlsx en SharePoint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5A3583-7087-46C0-B502-5D24C778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config/config.yaml: referencias indica el archivo local,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A2E5BD-5632-4364-9EC1-552A00FF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95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hoja_referencias la hoja y referencias_sharepoint el enlace.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49FBC2A-02DC-4545-942F-0DAD634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cada fila con valores aprobados y conserve los encabezados.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844BE6A-8B8B-421A-8B19-D20DA741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24500"/>
            <a:ext cx="9144000" cy="5810250"/>
          </a:xfrm>
          <a:prstGeom xmlns:a="http://schemas.openxmlformats.org/drawingml/2006/main" prst="roundRect">
            <a:avLst>
              <a:gd name="adj" fmla="val 22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4AF7648-9CC2-412C-AB20-04D1D8D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24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89F6BC5-5ECA-496A-9646-0F375478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E666C7-2864-43A7-9DC4-3FDA2CE0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48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CAMPOS DE CADA REFERENCIA</a:t>
            </a:r>
          </a:p>
        </p:txBody>
      </p:sp>
      <p:graphicFrame>
        <p:nvGraphicFramePr>
          <p:cNvPr id="99" name=""/>
          <p:cNvGraphicFramePr/>
          <p:nvPr/>
        </p:nvGraphicFramePr>
        <p:xfrm>
          <a:off xmlns:a="http://schemas.openxmlformats.org/drawingml/2006/main" x="533400" y="6172200"/>
          <a:ext xmlns:a="http://schemas.openxmlformats.org/drawingml/2006/main" cx="86868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6686550"/>
              </a:tblGrid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Campo del Excel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Contenido de la referencia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TYPE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Tipo de referencia o de DIP.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AREA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Área a la que pertenece la referencia.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Capítulo ATA del sistema o componente.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FLEET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Flota o modelo al que aplica.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DESCRIPTION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Descripción para identificar la condición o el componente.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PARENT ASSY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Conjunto al que se asocia el DIP, como AIRCRAFT o ENGINE.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Manual o documento técnico que respalda la referencia.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Plazo o límite permitido para corregir la condición.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RIR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Intervalo de la inspección repetitiva, cuando aplica.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C0A3709-2701-40F6-B9FD-B8B8E799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9347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TA y RIR incluyen valor y unidad, por ejemplo: 30 DAYS, 100 FH o 50 FC.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023C08F-7AC7-4615-BF16-9F30D7F1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563350"/>
            <a:ext cx="9144000" cy="1828800"/>
          </a:xfrm>
          <a:prstGeom xmlns:a="http://schemas.openxmlformats.org/drawingml/2006/main" prst="roundRect">
            <a:avLst>
              <a:gd name="adj" fmla="val 72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1492DA8-6F47-4B8B-A48E-12C1E23C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5633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D7B3B16-96E5-4752-B897-E9B13DA1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586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76BB21E-7FBD-48B4-8A6C-3BF98E58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16871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COPIA QUE UTILIZA EL PROGRAMA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EA7077C-DD2D-48FA-9316-DDE11B9F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11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Intenta actualizar desde SharePoint. Si falla, usa la última copia válida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EFF8653-8262-4DB6-9151-2C2A7B91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439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descargada o el archivo local inicial. Inicie sesión en Edge si la pide.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412D396-C15C-4C14-983D-EF962FB6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68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terminal indica la copia y su fecha. Sin una copia válida, se detiene.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D39CFF-7B1C-4597-9CD3-13E1CB1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726E5-319B-4885-A80B-F9A97A8B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B8E23-CA1F-4EAE-8381-B85017B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E3794-3139-46DF-8FFD-4CB53F9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9B84-EB48-4195-B6E6-679E3A92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YAML DE DISCREPANCIAS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bf0eb15ad84c28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1244C-2DF0-4361-A191-0BF4F805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5b0b46cbb8480e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D527D-3D95-41E4-9CF0-40A79EF7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263DD-7493-462B-AD9D-C1639BB5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 /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2934E-CF3C-4F20-B313-05144196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ya está configurado para funcionar correctamente.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14BA7-CF7E-412D-A1D6-1D21EC3F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No necesita modificar el YAML ahora. Esta sección es para cambios futuros.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3E71B-E5BE-49A5-B153-0495E4C0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C7881-9D3F-4BB7-8716-79D3145D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33C60-17FD-47FA-9560-CE1AC1B8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636DE-0988-49F2-81DC-EF053745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3645C-803A-4EFE-86AD-9B6E36A9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B6075C-F610-42F6-B13C-9030592E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8686800" cy="14859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E869CE-78F6-41B5-8777-7C7B884A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96FED-4817-44F4-8107-DB4B3C6D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441CE-9FED-405B-997F-2FFE8D7C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BB699-DAE1-4200-968A-CF8CAE2A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1B7E7-4894-4C99-9B38-F26542D5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BA99C6-E7DD-48DB-8758-EC384DD2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OK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88FE10-1E56-4804-90B0-4FBE0048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247650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D834A7-78A3-43EF-A8FC-1DF309A0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14DDD2-85A7-43B4-85F0-50913AE3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9A9C03-353F-4F09-B320-73E654F5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864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9EA73E-719A-46A5-84E3-2A6251AD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E4FE49-792B-4B3D-8BF0-898F052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913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9DECB5-58C0-44CC-9227-AE3F2103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865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74D1F7-FE5C-47B8-89A7-757D217E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151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68ABA4-B2FE-4992-84CC-B28D934D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91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Reactivar: cambie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Para todo un tipo, ponga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05F0D9-92A6-4CBF-B945-ACAFC05D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activo: 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a la altura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reglas: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88D1D6-2EE2-46C8-B034-59CCE9E4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DE0965-EA19-4016-AD32-A9D66E09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6F440-527A-4615-8566-4E6EDB30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62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60161B-305E-467D-8405-E6859D4D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3915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92" name=""/>
          <p:cNvGraphicFramePr/>
          <p:nvPr/>
        </p:nvGraphicFramePr>
        <p:xfrm>
          <a:off xmlns:a="http://schemas.openxmlformats.org/drawingml/2006/main" x="533400" y="8915400"/>
          <a:ext xmlns:a="http://schemas.openxmlformats.org/drawingml/2006/main" cx="8686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4305300"/>
              </a:tblGrid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OK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OK si no hay otros hallazgos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7781D5-10D8-4F41-9AC0-274A484C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57297C-EBE3-48A1-83E4-DE4A929C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Configuración desde el YAML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E48DCF-525C-48F4-AAA2-919A9FED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920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YAML configura qué chequeos disponibles se informan y su severidad.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907284-B347-40B8-808B-82758E3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206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cambios futuros, edite config/discrepancias.yaml y guarde.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2339D-BF86-4CD7-85EE-15655ECD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8492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CORREGIDO EN CIERRE se calcula; no se asigna a una regla.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6B65E2-72F6-4182-9BBA-C4703D44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163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Se aplica la prioridad explicada en la página de resultados.</a:t>
            </a:r>
          </a:p>
        </p:txBody>
      </p:sp>
    </p:spTree>
    <p:extLst>
      <p:ext uri="{BB962C8B-B14F-4D97-AF65-F5344CB8AC3E}">
        <p14:creationId xmlns:p14="http://schemas.microsoft.com/office/powerpoint/2010/main" val="17310801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2026-10-08T00:54:04.0900000Z</dcterms:created>
  <dcterms:modified xsi:type="dcterms:W3CDTF">2026-10-08T00:54:04.0900000Z</dcterms:modified>
</coreProperties>
</file>