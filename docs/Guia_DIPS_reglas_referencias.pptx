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e595005f3d74190" /><Relationship Type="http://schemas.openxmlformats.org/officeDocument/2006/relationships/extended-properties" Target="/docProps/app.xml" Id="R2309e09b00d34a5f" /><Relationship Type="http://schemas.openxmlformats.org/officeDocument/2006/relationships/officeDocument" Target="/ppt/presentation.xml" Id="R2ab6f5aac80847b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1581204a7d148a9"/>
  </p:sldMasterIdLst>
  <p:notesMasterIdLst>
    <p:notesMasterId xmlns:r="http://schemas.openxmlformats.org/officeDocument/2006/relationships" r:id="R5fbe364494374f9a"/>
  </p:notesMasterIdLst>
  <p:sldIdLst>
    <p:sldId xmlns:r="http://schemas.openxmlformats.org/officeDocument/2006/relationships" id="256" r:id="R9fdbd077b76e49b1"/>
    <p:sldId xmlns:r="http://schemas.openxmlformats.org/officeDocument/2006/relationships" id="257" r:id="R3c4cd354c10f488b"/>
    <p:sldId xmlns:r="http://schemas.openxmlformats.org/officeDocument/2006/relationships" id="258" r:id="Rb747c7c1feb84fa5"/>
  </p:sldIdLst>
  <p:sldSz cx="9753600" cy="146304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ade0e4598424af0" /><Relationship Type="http://schemas.openxmlformats.org/officeDocument/2006/relationships/slideMaster" Target="/ppt/slideMasters/slideMaster1.xml" Id="R31581204a7d148a9" /><Relationship Type="http://schemas.openxmlformats.org/officeDocument/2006/relationships/notesMaster" Target="/ppt/notesMasters/notesMaster1.xml" Id="R5fbe364494374f9a" /><Relationship Type="http://schemas.openxmlformats.org/officeDocument/2006/relationships/presProps" Target="/ppt/presProps.xml" Id="R163f59063f814f78" /><Relationship Type="http://schemas.openxmlformats.org/officeDocument/2006/relationships/tableStyles" Target="/ppt/tableStyles.xml" Id="R450cfb39a5f641c1" /><Relationship Type="http://schemas.openxmlformats.org/officeDocument/2006/relationships/slide" Target="/ppt/slides/slide1.xml" Id="R9fdbd077b76e49b1" /><Relationship Type="http://schemas.openxmlformats.org/officeDocument/2006/relationships/slide" Target="/ppt/slides/slide2.xml" Id="R3c4cd354c10f488b" /><Relationship Type="http://schemas.openxmlformats.org/officeDocument/2006/relationships/slide" Target="/ppt/slides/slide3.xml" Id="Rb747c7c1feb84fa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cc52ba40ae44f3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bb72a838faa41e5" /><Relationship Type="http://schemas.openxmlformats.org/officeDocument/2006/relationships/notesMaster" Target="/ppt/notesMasters/notesMaster1.xml" Id="R291c8d4410564a8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f4fbb48df1046b6" /><Relationship Type="http://schemas.openxmlformats.org/officeDocument/2006/relationships/notesMaster" Target="/ppt/notesMasters/notesMaster1.xml" Id="Rcbc0fee1d68d429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0fec86d157b41bc" /><Relationship Type="http://schemas.openxmlformats.org/officeDocument/2006/relationships/notesMaster" Target="/ppt/notesMasters/notesMaster1.xml" Id="Rb3569c3977574ac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locales: auditar.bat, filtrar.bat, comparar.bat, dips_audit/__main__.py.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locales: config/discrepancias.yaml, dips_audit/discrepancias.py.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locales: config/config.yaml, dips_audit/referencias.py, DIPs References.xlsx.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943c88c3054fb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25f5b3573384a16" /><Relationship Type="http://schemas.openxmlformats.org/officeDocument/2006/relationships/slideLayout" Target="/ppt/slideLayouts/slideLayout1.xml" Id="R69dea106c29b408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9dea106c29b408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dd75374d9e444f" /><Relationship Type="http://schemas.openxmlformats.org/officeDocument/2006/relationships/image" Target="/ppt/media/image.png" Id="R4da05ed52fa64037" /><Relationship Type="http://schemas.openxmlformats.org/officeDocument/2006/relationships/image" Target="/ppt/media/image2.png" Id="R67e7f37db75e4835" /><Relationship Type="http://schemas.openxmlformats.org/officeDocument/2006/relationships/notesSlide" Target="/ppt/notesSlides/notesSlide1.xml" Id="R008b13329b2c49c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cee0e123814468" /><Relationship Type="http://schemas.openxmlformats.org/officeDocument/2006/relationships/image" Target="/ppt/media/image3.png" Id="Ra3404a10c3e143fd" /><Relationship Type="http://schemas.openxmlformats.org/officeDocument/2006/relationships/image" Target="/ppt/media/image4.png" Id="Re45c7ae809334aac" /><Relationship Type="http://schemas.openxmlformats.org/officeDocument/2006/relationships/notesSlide" Target="/ppt/notesSlides/notesSlide2.xml" Id="R84f74cde1814412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810c3fa8a64a74" /><Relationship Type="http://schemas.openxmlformats.org/officeDocument/2006/relationships/image" Target="/ppt/media/image5.png" Id="R7e801b9c87484194" /><Relationship Type="http://schemas.openxmlformats.org/officeDocument/2006/relationships/image" Target="/ppt/media/image6.png" Id="Rc1e75211d9ed4b29" /><Relationship Type="http://schemas.openxmlformats.org/officeDocument/2006/relationships/hyperlink" Target="https://copaairlines.sharepoint.com/:x:/r/teams/VP_Tecnica/dacre/records/_layouts/15/doc2.aspx?sourcedoc=%7B71427FA7-2DB0-4851-A5BA-63F30401684E%7D&amp;file=DIPs%20References.xlsx&amp;action=default&amp;mobileredirect=true" TargetMode="External" Id="R0858a2c1247c4312" /><Relationship Type="http://schemas.openxmlformats.org/officeDocument/2006/relationships/notesSlide" Target="/ppt/notesSlides/notesSlide3.xml" Id="R9354b477ec424bc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FF2F0F8-8344-452E-A759-16A36678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753600" cy="15621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8722AF"/>
              </a:gs>
              <a:gs pos="45000">
                <a:srgbClr val="292278"/>
              </a:gs>
              <a:gs pos="75000">
                <a:srgbClr val="003D8D"/>
              </a:gs>
              <a:gs pos="100000">
                <a:srgbClr val="087CC9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2BE106-8AD0-4A35-8FC0-D00D0B0FD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229787-FF74-46BF-B7F1-2A53960C8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"/>
            <a:ext cx="95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BE60D1-A261-4664-854B-7D954D0E3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"/>
            <a:ext cx="4076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GUÍA RÁPIDA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E0F789-D394-4A04-AC07-C0BE9DC03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904875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USO DEL PROGRAMA</a:t>
            </a:r>
          </a:p>
        </p:txBody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a05ed52fa64037"/>
          <a:stretch xmlns:a="http://schemas.openxmlformats.org/drawingml/2006/main"/>
        </p:blipFill>
        <p:spPr>
          <a:xfrm xmlns:a="http://schemas.openxmlformats.org/drawingml/2006/main">
            <a:off x="7886700" y="583871"/>
            <a:ext cx="1666875" cy="44198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DEF34F-8C43-41EF-8384-0EC5BF69D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696950"/>
            <a:ext cx="9753600" cy="9334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3D8D"/>
              </a:gs>
              <a:gs pos="100000">
                <a:srgbClr val="006BBE"/>
              </a:gs>
            </a:gsLst>
            <a:lin ang="5400000"/>
          </a:gradFill>
          <a:ln xmlns:a="http://schemas.openxmlformats.org/drawingml/2006/main" w="0">
            <a:noFill/>
          </a:ln>
        </p:spPr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e7f37db75e4835"/>
          <a:stretch xmlns:a="http://schemas.openxmlformats.org/drawingml/2006/main"/>
        </p:blipFill>
        <p:spPr>
          <a:xfrm xmlns:a="http://schemas.openxmlformats.org/drawingml/2006/main">
            <a:off x="228600" y="13982700"/>
            <a:ext cx="2333625" cy="4000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380BE5-8A58-4426-8962-125FE2A72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4001750"/>
            <a:ext cx="3333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77939B-2FDB-4F30-9C19-8D440827F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4144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 / 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39CACB-AB02-4050-9B2B-66D06EF04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Abra una terminal (CMD o PowerShell) en la carpeta DIPS.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029D9D-725F-429E-A33A-2CC886E6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En esta guía,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$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indica un comando y se omite al escribirlo.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65040E-E27E-4D6A-8C20-1B154AA73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241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Sustituya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entrada.xlsx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por el nombre o la ruta de su archivo.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845543-D062-4A6A-9511-AA8E0C87F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857500"/>
            <a:ext cx="9144000" cy="2305050"/>
          </a:xfrm>
          <a:prstGeom xmlns:a="http://schemas.openxmlformats.org/drawingml/2006/main" prst="roundRect">
            <a:avLst>
              <a:gd name="adj" fmla="val 57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9238D4-5219-4067-A628-69FAF7EBE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8575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2CF061-179D-4724-8894-28B23CD5D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527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7EF477-7EB8-410A-B750-C8E27EC30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813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INSTALACIÓN Y AUDITORÍA CON EXCEL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B996E2-7B09-4772-8C99-D9D5E8BFB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05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Primera instalación: ejecute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.\setup.bat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una vez.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47A6D0-936C-4751-BE7D-C22310508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338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Después audite el Excel con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.\auditar.bat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, o arrástrelo sobre ese archivo.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A40A9C-90B0-414A-9343-5C4F69339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14800"/>
            <a:ext cx="8686800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B229DF-992A-412E-BAA6-D0630024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1005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Terminal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0AFA40-858C-4377-BD27-3F6DDB1EF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386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.\setup.bat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8B8CB3-1BA1-4B86-B701-8674A9624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482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.\auditar.bat "entrada.xlsx"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C80422-6612-4407-AE7A-C0D4CDF73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391150"/>
            <a:ext cx="9144000" cy="2705100"/>
          </a:xfrm>
          <a:prstGeom xmlns:a="http://schemas.openxmlformats.org/drawingml/2006/main" prst="roundRect">
            <a:avLst>
              <a:gd name="adj" fmla="val 49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1F4924-7910-435D-A113-C69E3E5C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39115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D990DC-6990-4881-8474-803EE312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864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5E5B093-AD59-4417-94F0-035D27626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1497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ICAM Y PENDIENTES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155B97-C986-445C-BB46-0DEEB089F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38850"/>
            <a:ext cx="86868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B0C92E-9165-47BC-ABC0-69680BD48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13410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Terminal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2FADFE3-73F7-4EB5-834B-649F3322B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627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.\auditar.bat "entrada.xlsx" --icam --pendientes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EBF5970-A726-4A87-BAE9-4D9293CC9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389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--icam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consulta ICAM. Inicie sesión si Edge la pide.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E29782-F9A5-4AEE-B6EB-12FE4CD16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199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--pendientes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deja ACTV sin DIP Open Audit User 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6DDA3BB-8A79-4F69-98F3-A0C58A83E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485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COMPLETE sin DIP Closed Audit User. Quite la opción para auditar todos.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8F396D7-4C97-4ED3-84B4-C8A2A981F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771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Crea una copia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FILTERED.xlsx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junto al archivo original.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6A1E759-9EF4-4BAC-834B-0BCD475D2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324850"/>
            <a:ext cx="9144000" cy="2705100"/>
          </a:xfrm>
          <a:prstGeom xmlns:a="http://schemas.openxmlformats.org/drawingml/2006/main" prst="roundRect">
            <a:avLst>
              <a:gd name="adj" fmla="val 49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7048897-F14B-4BBF-B069-299AA93F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32485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915FD33-7E83-47B2-A0C6-67B1A1D8C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4201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D1147BB-F3B0-4D7E-AD1B-8F511FE6C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844867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CONSULTA POR BARCODE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23071D4-9D2E-43F6-B875-0527A1124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9725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Consulte un DIP en ICAM sin cargar un Excel.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E05FCB9-A5C8-4003-BA58-1231D33D9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2011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Sustituya el barcode de ejemplo por el barcode real.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741B29F-AE21-4034-82C6-D5B6AAD5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582150"/>
            <a:ext cx="86868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109FB56-A320-4FFC-B8BF-B29A2C5DA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67740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Terminal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4D23A8A-FB69-4ECC-8886-2F065FFE5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.\auditar.bat T40S0099V9C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C696CE1-E525-4E55-ABAF-68B61D364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3822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El programa muestra los datos, el resultado y los hallazgos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A8BDCFA-C739-4A74-BC77-B7647FB3B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108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en la terminal. Esta consulta no genera un Excel de resultado.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A35579B-BA03-4962-8DBA-D6C26DFDA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1258550"/>
            <a:ext cx="9144000" cy="1457325"/>
          </a:xfrm>
          <a:prstGeom xmlns:a="http://schemas.openxmlformats.org/drawingml/2006/main" prst="roundRect">
            <a:avLst>
              <a:gd name="adj" fmla="val 9150"/>
            </a:avLst>
          </a:prstGeom>
          <a:solidFill xmlns:a="http://schemas.openxmlformats.org/drawingml/2006/main">
            <a:srgbClr val="DDEFFC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F3D96DF-171C-45C9-9518-B92B39FD9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449050"/>
            <a:ext cx="86868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Resultado: carpeta </a:t>
            </a:r>
            <a:r>
              <a:rPr sz="16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salidas/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B284CF0-9F41-410B-92E3-09E0126B5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3957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Revise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RESULTADO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,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HALLAZGOS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y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VERIFICACIÓN MANUAL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33F2CE8-81DE-4737-B097-6387EF164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6817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POSIBLE DISCREPANCIA: leer hallazgo. REVISAR: consultar manual.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971A8E9-0C91-40C9-9E5C-A7434CA73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29677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SIN FUENTE: verificar referencia. OK: completar revisión manual.</a:t>
            </a:r>
          </a:p>
        </p:txBody>
      </p:sp>
    </p:spTree>
    <p:extLst>
      <p:ext uri="{BB962C8B-B14F-4D97-AF65-F5344CB8AC3E}">
        <p14:creationId xmlns:p14="http://schemas.microsoft.com/office/powerpoint/2010/main" val="4585063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2D39CFF-7B1C-4597-9CD3-13E1CB155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753600" cy="15621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8722AF"/>
              </a:gs>
              <a:gs pos="45000">
                <a:srgbClr val="292278"/>
              </a:gs>
              <a:gs pos="75000">
                <a:srgbClr val="003D8D"/>
              </a:gs>
              <a:gs pos="100000">
                <a:srgbClr val="087CC9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7726E5-319B-4885-A80B-F9A97A8B0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8B8E23-CA1F-4EAE-8381-B85017BFB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"/>
            <a:ext cx="95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DE3794-3139-46DF-8FFD-4CB53F90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"/>
            <a:ext cx="4076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GUÍA RÁPIDA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719B84-EB48-4195-B6E6-679E3A926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904875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CONFIGURACIÓN DEL YAML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404a10c3e143fd"/>
          <a:stretch xmlns:a="http://schemas.openxmlformats.org/drawingml/2006/main"/>
        </p:blipFill>
        <p:spPr>
          <a:xfrm xmlns:a="http://schemas.openxmlformats.org/drawingml/2006/main">
            <a:off x="7886700" y="583871"/>
            <a:ext cx="1666875" cy="44198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41244C-2DF0-4361-A191-0BF4F805E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696950"/>
            <a:ext cx="9753600" cy="9334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3D8D"/>
              </a:gs>
              <a:gs pos="100000">
                <a:srgbClr val="006BBE"/>
              </a:gs>
            </a:gsLst>
            <a:lin ang="5400000"/>
          </a:gradFill>
          <a:ln xmlns:a="http://schemas.openxmlformats.org/drawingml/2006/main" w="0">
            <a:noFill/>
          </a:ln>
        </p:spPr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5c7ae809334aac"/>
          <a:stretch xmlns:a="http://schemas.openxmlformats.org/drawingml/2006/main"/>
        </p:blipFill>
        <p:spPr>
          <a:xfrm xmlns:a="http://schemas.openxmlformats.org/drawingml/2006/main">
            <a:off x="228600" y="13982700"/>
            <a:ext cx="2333625" cy="4000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AD527D-3D95-41E4-9CF0-40A79EF7F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4001750"/>
            <a:ext cx="3333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C263DD-7493-462B-AD9D-C1639BB5D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4144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 / 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D2934E-CF3C-4F20-B313-05144196F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Abra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config/discrepancias.yaml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, cambie la regla y guarde.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E14BA7-CF7E-412D-A1D6-1D21EC3FC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La siguiente auditoría valida el YAML. Conserve la sangría con espacios.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23E71B-E5BE-49A5-B153-0495E4C0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628900"/>
            <a:ext cx="9144000" cy="2705100"/>
          </a:xfrm>
          <a:prstGeom xmlns:a="http://schemas.openxmlformats.org/drawingml/2006/main" prst="roundRect">
            <a:avLst>
              <a:gd name="adj" fmla="val 49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7C7881-9D3F-4BB7-8716-79D3145D0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6289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D33C60-17FD-47FA-9560-CE1AC1B82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7636DE-0988-49F2-81DC-EF0537458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527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SEVERIDAD DE UNA REGLA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33645C-803A-4EFE-86AD-9B6E36A92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766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Ejemplo de un bloque existente: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B6075C-F610-42F6-B13C-9030592E6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57600"/>
            <a:ext cx="8686800" cy="14859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E869CE-78F6-41B5-8777-7C7B884AE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5285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YAML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D96FED-4817-44F4-8107-DB4B3C6D0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814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tipos: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1441CE-9FED-405B-997F-2FFE8D7C2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Incorrect DIP Interval: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0BB699-DAE1-4200-968A-CF8CAE2A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005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  reglas: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C1B7E7-4894-4C99-9B38-F26542D52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101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    intervalo_excedido: CRITICA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BA99C6-E7DD-48DB-8758-EC384DD28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196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    intervalo_menor: OBSERVACION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788FE10-1E56-4804-90B0-4FBE0048F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562600"/>
            <a:ext cx="9144000" cy="2476500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D834A7-78A3-43EF-A8FC-1DF309A06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5626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14DDD2-85A7-43B4-85F0-50913AE33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578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89A9C03-353F-4F09-B320-73E654F59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6864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DESACTIVAR Y REACTIVAR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A9EA73E-719A-46A5-84E3-2A6251AD4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103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Para desactivar una regla, sustituya su línea por: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E4FE49-792B-4B3D-8BF0-898F052F3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91300"/>
            <a:ext cx="86868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9DECB5-58C0-44CC-9227-AE3F21034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68655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YAML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A74D1F7-FE5C-47B8-89A7-757D217E6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9151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intervalo_excedido: {activa: false, severidad: CRITICA}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D68ABA4-B2FE-4992-84CC-B28D934D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3914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Reactivar: cambie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false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por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. Para todo un tipo, ponga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A05F0D9-92A6-4CBF-B945-ACAFC05DB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200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activo: false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a la altura de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reglas: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788D1D6-2EE2-46C8-B034-59CCE9E4E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267700"/>
            <a:ext cx="9144000" cy="3314700"/>
          </a:xfrm>
          <a:prstGeom xmlns:a="http://schemas.openxmlformats.org/drawingml/2006/main" prst="roundRect">
            <a:avLst>
              <a:gd name="adj" fmla="val 40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CDE0965-EA19-4016-AD32-A9D66E09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2677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B6F440-527A-4615-8566-4E6EDB301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3629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560161B-305E-467D-8405-E6859D4D3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83915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VALORES DISPONIBLES</a:t>
            </a:r>
          </a:p>
        </p:txBody>
      </p:sp>
      <p:graphicFrame>
        <p:nvGraphicFramePr>
          <p:cNvPr id="84" name=""/>
          <p:cNvGraphicFramePr/>
          <p:nvPr/>
        </p:nvGraphicFramePr>
        <p:xfrm>
          <a:off xmlns:a="http://schemas.openxmlformats.org/drawingml/2006/main" x="533400" y="8915400"/>
          <a:ext xmlns:a="http://schemas.openxmlformats.org/drawingml/2006/main" cx="8686800" cy="2095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381500"/>
                <a:gridCol w="4305300"/>
              </a:tblGrid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425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Valor en YAML</a:t>
                      </a:r>
                    </a:p>
                  </a:txBody>
                  <a:tcPr marL="91440" marR="91440" marT="45720" marB="45720">
                    <a:solidFill>
                      <a:srgbClr val="DDEFFC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Efecto en el resultado</a:t>
                      </a:r>
                    </a:p>
                  </a:txBody>
                  <a:tcPr marL="91440" marR="91440" marT="45720" marB="45720">
                    <a:solidFill>
                      <a:srgbClr val="DDEFFC"/>
                    </a:solidFill>
                  </a:tcPr>
                </a:tc>
              </a:tr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CRITICA, NO CRITICA, REVISAR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POSIBLE DISCREPANCIA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CONSULTAR MANUAL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REVISAR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SIN FUENTE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SIN FUENTE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OBSERVACION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Informa sin cambiar el resultado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7F25720-BB60-413D-A5CC-2864BB2BD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1633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Prevalece el hallazgo de mayor severidad.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87781D5-10D8-4F41-9AC0-274A484C1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1811000"/>
            <a:ext cx="9144000" cy="1457325"/>
          </a:xfrm>
          <a:prstGeom xmlns:a="http://schemas.openxmlformats.org/drawingml/2006/main" prst="roundRect">
            <a:avLst>
              <a:gd name="adj" fmla="val 9150"/>
            </a:avLst>
          </a:prstGeom>
          <a:solidFill xmlns:a="http://schemas.openxmlformats.org/drawingml/2006/main">
            <a:srgbClr val="DDEFFC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457297C-EBE3-48A1-83E4-DE4A929CD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0"/>
            <a:ext cx="86868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Configuración desde el YAML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0E48DCF-525C-48F4-AAA2-919A9FEDB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39202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El YAML configura qué chequeos disponibles se informan y su severidad.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2907284-B347-40B8-808B-82758E33D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62062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Edite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config/discrepancias.yaml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y guarde.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2A2339D-BF86-4CD7-85EE-15655ECDD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84922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La siguiente auditoría utiliza esta configuración.</a:t>
            </a:r>
          </a:p>
        </p:txBody>
      </p:sp>
    </p:spTree>
    <p:extLst>
      <p:ext uri="{BB962C8B-B14F-4D97-AF65-F5344CB8AC3E}">
        <p14:creationId xmlns:p14="http://schemas.microsoft.com/office/powerpoint/2010/main" val="17310801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D9253AA-8B26-489D-A3C8-4B13BDFE3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753600" cy="15621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8722AF"/>
              </a:gs>
              <a:gs pos="45000">
                <a:srgbClr val="292278"/>
              </a:gs>
              <a:gs pos="75000">
                <a:srgbClr val="003D8D"/>
              </a:gs>
              <a:gs pos="100000">
                <a:srgbClr val="087CC9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A11C36-C722-40B0-9459-ADD6C8434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F1E3BD-D43F-4A74-B481-1B6F6A31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"/>
            <a:ext cx="95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E53601-3BC3-41D5-B6F8-76C91682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"/>
            <a:ext cx="4076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GUÍA RÁPIDA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32472A-27E2-4C3D-ADED-41A32F31D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904875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REFERENCIAS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801b9c87484194"/>
          <a:stretch xmlns:a="http://schemas.openxmlformats.org/drawingml/2006/main"/>
        </p:blipFill>
        <p:spPr>
          <a:xfrm xmlns:a="http://schemas.openxmlformats.org/drawingml/2006/main">
            <a:off x="7886700" y="583871"/>
            <a:ext cx="1666875" cy="44198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ABF6DB-D2D1-4962-8067-BA975E970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696950"/>
            <a:ext cx="9753600" cy="9334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3D8D"/>
              </a:gs>
              <a:gs pos="100000">
                <a:srgbClr val="006BBE"/>
              </a:gs>
            </a:gsLst>
            <a:lin ang="5400000"/>
          </a:gradFill>
          <a:ln xmlns:a="http://schemas.openxmlformats.org/drawingml/2006/main" w="0">
            <a:noFill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e75211d9ed4b29"/>
          <a:stretch xmlns:a="http://schemas.openxmlformats.org/drawingml/2006/main"/>
        </p:blipFill>
        <p:spPr>
          <a:xfrm xmlns:a="http://schemas.openxmlformats.org/drawingml/2006/main">
            <a:off x="228600" y="13982700"/>
            <a:ext cx="2333625" cy="4000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3DED55-6C39-4758-A368-CC89308F0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4001750"/>
            <a:ext cx="3333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9AE4EC-A1F7-4595-8DE5-69FA91330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4144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 / 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26B8B8-4745-4EFF-847E-FA6D419A0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La tabla aporta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TA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,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RIR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,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Parent Assembly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y la fuente técnica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CCBEAA-4FDF-4F65-A2B2-0DAF47A9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con los que el programa revisa cada DIP.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DA66A4-C75B-49DF-8839-3A0372C76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628900"/>
            <a:ext cx="9144000" cy="2514600"/>
          </a:xfrm>
          <a:prstGeom xmlns:a="http://schemas.openxmlformats.org/drawingml/2006/main" prst="roundRect">
            <a:avLst>
              <a:gd name="adj" fmla="val 53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ED7A76-D2E6-4B7E-B59E-66EA4978C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6289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8DD4E8-AC0C-4181-B73D-1C649E30D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5D8B15-4892-499C-B522-560344B6F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527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ARCHIVO Y ENLACE COMPARTIDO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B325F5-B479-4EAF-ADF1-BDBA1E056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766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Archivo local: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DIPs References.xlsx</a:t>
            </a: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, en la carpeta DIPS.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8B9309-5244-4F20-82AA-717732F96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05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Hoja: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References</a:t>
            </a: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161E03-A3A5-492E-9FF8-607C95A79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8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06BBE"/>
                </a:solidFill>
                <a:latin typeface="Arial"/>
                <a:ea typeface="Arial"/>
                <a:cs typeface="Arial"/>
                <a:hlinkClick xmlns:r="http://schemas.openxmlformats.org/officeDocument/2006/relationships" r:id="R0858a2c1247c4312"/>
              </a:rPr>
              <a:t>Abrir DIPs References.xlsx en SharePoint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82650D-6E84-413A-B044-C71AD242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67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En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config/config.yaml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: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referencias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indica el archivo,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EACC44-84D0-453B-A7C4-7CE20E374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958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hoja_referencias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la hoja y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referencias_sharepoint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el enlace.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526123-F8B7-4EAE-82EA-D818D37AD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244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Para cambiar el enlace, copie la URL del archivo compartido.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8EE9A5-6530-4946-9B2F-CF209F306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372100"/>
            <a:ext cx="9144000" cy="2686050"/>
          </a:xfrm>
          <a:prstGeom xmlns:a="http://schemas.openxmlformats.org/drawingml/2006/main" prst="roundRect">
            <a:avLst>
              <a:gd name="adj" fmla="val 49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02230A-692A-4DF0-B904-6C48D0618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3721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E000AE-1798-43C0-B359-9CA9C5C9C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673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E12035-EB8A-4C66-B669-D21008827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959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AGREGAR O CORREGIR UNA REFERENCIA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6ACE785-68B2-4446-B6CD-C45461BDD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198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Edite una fila con valores aprobados. Conserve los encabezados.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D9025F1-9FB6-4DDD-91A0-C83A58966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484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Use una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DESCRIPTION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precisa para reconocer el componente.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58A368-A712-4A73-B182-151F68F0E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29400"/>
            <a:ext cx="8686800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80FF2C1-91B7-48B5-B1E4-8EFC773AC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72465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Columnas del Excel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93FA11F-2427-4B40-81A0-EBCCA6359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9532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TYPE, AREA, ATA, FLEET, DESCRIPTION,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0E3B225-9B35-492F-A4E7-486BFD6B8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1628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PARENT ASSY, REFERENCES, TA, RIR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27B0391-DFA3-42A6-862C-DE21608AF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390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TA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y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RIR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llevan unidad. Ejemplo de formato: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30 DAYS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5DCB041-956E-4BB4-88AF-D5052910B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286750"/>
            <a:ext cx="91440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2B2ED0C-F033-499E-B7C5-2387C221C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28675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D64D8BF-3063-4485-AC58-21441CF27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3820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917E4C6-1DFD-4B56-A3C1-BCB031CB7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841057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QUÉ COPIA UTILIZA LA AUDITORÍA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BE64C7F-9544-4C00-A0F6-C2DB908E5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9344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Intenta actualizar desde SharePoint. Inicie sesión si Edge la pide.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9B88017-074F-47AA-8409-5D55AA328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630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Si falla, usa la última descarga válida o el archivo local inicial.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9A713D8-FD5F-4B35-860E-106853272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5440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La terminal indica la copia utilizada y su fecha.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71442E4-8A97-4DFB-8262-DE4748695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7726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Si ninguna copia es válida, la auditoría se detiene.</a:t>
            </a:r>
          </a:p>
        </p:txBody>
      </p:sp>
    </p:spTree>
    <p:extLst>
      <p:ext uri="{BB962C8B-B14F-4D97-AF65-F5344CB8AC3E}">
        <p14:creationId xmlns:p14="http://schemas.microsoft.com/office/powerpoint/2010/main" val="14334848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2026-10-06T01:18:43.2720000Z</dcterms:created>
  <dcterms:modified xsi:type="dcterms:W3CDTF">2026-10-06T01:18:43.2720000Z</dcterms:modified>
</coreProperties>
</file>