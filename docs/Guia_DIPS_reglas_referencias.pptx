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1902215f794e98" /><Relationship Type="http://schemas.openxmlformats.org/officeDocument/2006/relationships/extended-properties" Target="/docProps/app.xml" Id="Rf18f106768984a8d" /><Relationship Type="http://schemas.openxmlformats.org/officeDocument/2006/relationships/officeDocument" Target="/ppt/presentation.xml" Id="R68ae052b90a149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9f2684f8134cf0"/>
  </p:sldMasterIdLst>
  <p:notesMasterIdLst>
    <p:notesMasterId xmlns:r="http://schemas.openxmlformats.org/officeDocument/2006/relationships" r:id="R3f279f67fa9a4178"/>
  </p:notesMasterIdLst>
  <p:sldIdLst>
    <p:sldId xmlns:r="http://schemas.openxmlformats.org/officeDocument/2006/relationships" id="256" r:id="Rf49f1a400862409d"/>
    <p:sldId xmlns:r="http://schemas.openxmlformats.org/officeDocument/2006/relationships" id="257" r:id="R295ddd7227d6441f"/>
    <p:sldId xmlns:r="http://schemas.openxmlformats.org/officeDocument/2006/relationships" id="258" r:id="R36d3d917e8624d96"/>
    <p:sldId xmlns:r="http://schemas.openxmlformats.org/officeDocument/2006/relationships" id="259" r:id="Rc91f954dcd074959"/>
    <p:sldId xmlns:r="http://schemas.openxmlformats.org/officeDocument/2006/relationships" id="260" r:id="Rc3924ce56dfd4f53"/>
    <p:sldId xmlns:r="http://schemas.openxmlformats.org/officeDocument/2006/relationships" id="261" r:id="R6338c747ab5940ff"/>
    <p:sldId xmlns:r="http://schemas.openxmlformats.org/officeDocument/2006/relationships" id="262" r:id="R81bef1d4e62c4733"/>
  </p:sldIdLst>
  <p:sldSz cx="9753600" cy="14630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18b0e353564ebe" /><Relationship Type="http://schemas.openxmlformats.org/officeDocument/2006/relationships/slideMaster" Target="/ppt/slideMasters/slideMaster1.xml" Id="R239f2684f8134cf0" /><Relationship Type="http://schemas.openxmlformats.org/officeDocument/2006/relationships/notesMaster" Target="/ppt/notesMasters/notesMaster1.xml" Id="R3f279f67fa9a4178" /><Relationship Type="http://schemas.openxmlformats.org/officeDocument/2006/relationships/presProps" Target="/ppt/presProps.xml" Id="R49d054c63caf4ca6" /><Relationship Type="http://schemas.openxmlformats.org/officeDocument/2006/relationships/tableStyles" Target="/ppt/tableStyles.xml" Id="Rf21b691e46c44702" /><Relationship Type="http://schemas.openxmlformats.org/officeDocument/2006/relationships/slide" Target="/ppt/slides/slide1.xml" Id="Rf49f1a400862409d" /><Relationship Type="http://schemas.openxmlformats.org/officeDocument/2006/relationships/slide" Target="/ppt/slides/slide2.xml" Id="R295ddd7227d6441f" /><Relationship Type="http://schemas.openxmlformats.org/officeDocument/2006/relationships/slide" Target="/ppt/slides/slide3.xml" Id="R36d3d917e8624d96" /><Relationship Type="http://schemas.openxmlformats.org/officeDocument/2006/relationships/slide" Target="/ppt/slides/slide4.xml" Id="Rc91f954dcd074959" /><Relationship Type="http://schemas.openxmlformats.org/officeDocument/2006/relationships/slide" Target="/ppt/slides/slide5.xml" Id="Rc3924ce56dfd4f53" /><Relationship Type="http://schemas.openxmlformats.org/officeDocument/2006/relationships/slide" Target="/ppt/slides/slide6.xml" Id="R6338c747ab5940ff" /><Relationship Type="http://schemas.openxmlformats.org/officeDocument/2006/relationships/slide" Target="/ppt/slides/slide7.xml" Id="R81bef1d4e62c47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38d86e6d774e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9ad2cf7daa404e" /><Relationship Type="http://schemas.openxmlformats.org/officeDocument/2006/relationships/notesMaster" Target="/ppt/notesMasters/notesMaster1.xml" Id="Rf98febba822e40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b3731134bc4b8c" /><Relationship Type="http://schemas.openxmlformats.org/officeDocument/2006/relationships/notesMaster" Target="/ppt/notesMasters/notesMaster1.xml" Id="Re643d26c803a43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65962190774c62" /><Relationship Type="http://schemas.openxmlformats.org/officeDocument/2006/relationships/notesMaster" Target="/ppt/notesMasters/notesMaster1.xml" Id="R3bda0382f83048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d4ef9bc60f4daf" /><Relationship Type="http://schemas.openxmlformats.org/officeDocument/2006/relationships/notesMaster" Target="/ppt/notesMasters/notesMaster1.xml" Id="R5a1eef0b98eb49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ee11d5b3664d9d" /><Relationship Type="http://schemas.openxmlformats.org/officeDocument/2006/relationships/notesMaster" Target="/ppt/notesMasters/notesMaster1.xml" Id="R73a6805288d64f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2292bb6df24e84" /><Relationship Type="http://schemas.openxmlformats.org/officeDocument/2006/relationships/notesMaster" Target="/ppt/notesMasters/notesMaster1.xml" Id="R2d7cb1310ec54b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4d5bff05e249fc" /><Relationship Type="http://schemas.openxmlformats.org/officeDocument/2006/relationships/notesMaster" Target="/ppt/notesMasters/notesMaster1.xml" Id="R1ca79f09e13243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Guía de consulta. Ejemplos didácticos, pendientes de revisión antes de integrar. Fuentes locales: dips_audit/discrepancias.py, dips_audit/reglas.py, docs/generar_regla.py. Diseño basado en docs/Guia_BITS.pptx.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Guía de consulta. Ejemplos didácticos, pendientes de revisión antes de integrar. Fuentes locales: docs/generar_regla.py, docs/ejemplos/descripcion_obligatoria/LEEME.md. Diseño basado en docs/Guia_BITS.pptx.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Guía de consulta. Ejemplos didácticos, pendientes de revisión antes de integrar. Fuentes locales: dips_audit/reglas.py, dips_audit/auditor.py, dips_audit/discrepancias.py. Diseño basado en docs/Guia_BITS.pptx.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Guía de consulta. Ejemplos didácticos, pendientes de revisión antes de integrar. Fuentes locales: dips_audit/__main__.py, dips_audit/discrepancias.py, dips_audit/reglas.py. Diseño basado en docs/Guia_BITS.pptx.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Guía de consulta. Ejemplos didácticos, pendientes de revisión antes de integrar. Fuentes locales: config/config.yaml, dips_audit/fuente_referencias.py, dips_audit/__main__.py. Diseño basado en docs/Guia_BITS.pptx.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Guía de consulta. Ejemplos didácticos, pendientes de revisión antes de integrar. Fuentes locales: dips_audit/referencias.py, dips_audit/asociacion.py, config/catalogo_others.yaml. Diseño basado en docs/Guia_BITS.pptx.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Guía de consulta. Ejemplos didácticos, pendientes de revisión antes de integrar. Fuentes locales: dips_audit/referencias.py, config/catalogo_others.yaml, dips_audit/__main__.py. Diseño basado en docs/Guia_BITS.pptx.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e468ad62449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c260c3223d4c98" /><Relationship Type="http://schemas.openxmlformats.org/officeDocument/2006/relationships/slideLayout" Target="/ppt/slideLayouts/slideLayout1.xml" Id="R47e1d74506ac48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e1d74506ac48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58f2586394678" /><Relationship Type="http://schemas.openxmlformats.org/officeDocument/2006/relationships/image" Target="/ppt/media/image.png" Id="R633c8e6b9c164056" /><Relationship Type="http://schemas.openxmlformats.org/officeDocument/2006/relationships/image" Target="/ppt/media/image2.png" Id="R179da0a793964cd9" /><Relationship Type="http://schemas.openxmlformats.org/officeDocument/2006/relationships/notesSlide" Target="/ppt/notesSlides/notesSlide1.xml" Id="R20d9b2301fa146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dcdcf76cd463c" /><Relationship Type="http://schemas.openxmlformats.org/officeDocument/2006/relationships/image" Target="/ppt/media/image3.png" Id="Rc7961fbde6264244" /><Relationship Type="http://schemas.openxmlformats.org/officeDocument/2006/relationships/image" Target="/ppt/media/image4.png" Id="Rf44a8c172bb847ac" /><Relationship Type="http://schemas.openxmlformats.org/officeDocument/2006/relationships/notesSlide" Target="/ppt/notesSlides/notesSlide2.xml" Id="R6069642a949d44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f0180b47a430c" /><Relationship Type="http://schemas.openxmlformats.org/officeDocument/2006/relationships/image" Target="/ppt/media/image5.png" Id="Rdf47b6e65e284449" /><Relationship Type="http://schemas.openxmlformats.org/officeDocument/2006/relationships/image" Target="/ppt/media/image6.png" Id="Rbea6404036374d0b" /><Relationship Type="http://schemas.openxmlformats.org/officeDocument/2006/relationships/notesSlide" Target="/ppt/notesSlides/notesSlide3.xml" Id="R2dee8488f63242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3115babc24e1d" /><Relationship Type="http://schemas.openxmlformats.org/officeDocument/2006/relationships/image" Target="/ppt/media/image7.png" Id="Rf5aee2878f8d49d9" /><Relationship Type="http://schemas.openxmlformats.org/officeDocument/2006/relationships/image" Target="/ppt/media/image8.png" Id="R70faed28fbbd4f30" /><Relationship Type="http://schemas.openxmlformats.org/officeDocument/2006/relationships/notesSlide" Target="/ppt/notesSlides/notesSlide4.xml" Id="Rd47cdc7b0de547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7eefe8f3a498e" /><Relationship Type="http://schemas.openxmlformats.org/officeDocument/2006/relationships/image" Target="/ppt/media/image9.png" Id="Rf5ae187e2c73489e" /><Relationship Type="http://schemas.openxmlformats.org/officeDocument/2006/relationships/image" Target="/ppt/media/image10.png" Id="R4f52684d31604ace" /><Relationship Type="http://schemas.openxmlformats.org/officeDocument/2006/relationships/hyperlink" Target="https://copaairlines.sharepoint.com/:x:/r/teams/VP_Tecnica/dacre/records/_layouts/15/doc2.aspx?sourcedoc=%7B71427FA7-2DB0-4851-A5BA-63F30401684E%7D&amp;file=DIPs%20References.xlsx&amp;action=default&amp;mobileredirect=true" TargetMode="External" Id="R064c32ceb1264014" /><Relationship Type="http://schemas.openxmlformats.org/officeDocument/2006/relationships/notesSlide" Target="/ppt/notesSlides/notesSlide5.xml" Id="R2a989698d3af4a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dfdedb98945a5" /><Relationship Type="http://schemas.openxmlformats.org/officeDocument/2006/relationships/image" Target="/ppt/media/image11.png" Id="R46d14208daca4ead" /><Relationship Type="http://schemas.openxmlformats.org/officeDocument/2006/relationships/image" Target="/ppt/media/image12.png" Id="R5e9ed418ccac4d23" /><Relationship Type="http://schemas.openxmlformats.org/officeDocument/2006/relationships/notesSlide" Target="/ppt/notesSlides/notesSlide6.xml" Id="R83ae200988b440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5b60208d84deb" /><Relationship Type="http://schemas.openxmlformats.org/officeDocument/2006/relationships/image" Target="/ppt/media/image13.png" Id="Rfb97743826354d00" /><Relationship Type="http://schemas.openxmlformats.org/officeDocument/2006/relationships/image" Target="/ppt/media/image14.png" Id="R9e111509bec44156" /><Relationship Type="http://schemas.openxmlformats.org/officeDocument/2006/relationships/notesSlide" Target="/ppt/notesSlides/notesSlide7.xml" Id="R6a56e29a8c6441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C70FA8-0440-47DB-A5A8-85D05A45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1562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8722AF"/>
              </a:gs>
              <a:gs pos="45000">
                <a:srgbClr val="292278"/>
              </a:gs>
              <a:gs pos="75000">
                <a:srgbClr val="003D8D"/>
              </a:gs>
              <a:gs pos="100000">
                <a:srgbClr val="087CC9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24845-263F-4D72-810F-8BD65B57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AE6FA-9CCD-40EA-BEF4-DA22C90C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8125"/>
            <a:ext cx="95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02C16-CD3F-4D45-9A10-4D574524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"/>
            <a:ext cx="4076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GUÍA RÁPIDA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AA1AC-2F2F-416D-88BA-F6DFBCCD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9048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AGREGAR REGLAS Y USAR REFERENCIAS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c8e6b9c164056"/>
          <a:stretch xmlns:a="http://schemas.openxmlformats.org/drawingml/2006/main"/>
        </p:blipFill>
        <p:spPr>
          <a:xfrm xmlns:a="http://schemas.openxmlformats.org/drawingml/2006/main">
            <a:off x="7886700" y="583871"/>
            <a:ext cx="1666875" cy="44198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E7E16-1E32-4D79-8A32-CBE73DF5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696950"/>
            <a:ext cx="9753600" cy="9334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3D8D"/>
              </a:gs>
              <a:gs pos="100000">
                <a:srgbClr val="006BBE"/>
              </a:gs>
            </a:gsLst>
            <a:lin ang="5400000"/>
          </a:gradFill>
          <a:ln xmlns:a="http://schemas.openxmlformats.org/drawingml/2006/main" w="0">
            <a:noFill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da0a793964cd9"/>
          <a:stretch xmlns:a="http://schemas.openxmlformats.org/drawingml/2006/main"/>
        </p:blipFill>
        <p:spPr>
          <a:xfrm xmlns:a="http://schemas.openxmlformats.org/drawingml/2006/main">
            <a:off x="228600" y="13982700"/>
            <a:ext cx="2333625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59689-3CA5-4374-8397-C4CF9EEB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00175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87A0B-0654-42C4-A1A2-9798BC43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414462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 / 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63531-B626-45F4-9F14-51A9DF53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0"/>
            <a:ext cx="9334500" cy="1162050"/>
          </a:xfrm>
          <a:prstGeom xmlns:a="http://schemas.openxmlformats.org/drawingml/2006/main" prst="roundRect">
            <a:avLst>
              <a:gd name="adj" fmla="val 12295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FD9AE-71BB-4A61-AA7B-D4B912FB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72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¿Qué permite esta guía?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E346F-DF96-4AB7-B8F0-0E24C59D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8724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Agregar chequeos al auditor, registrar sus tipos y mantener la tabla de referencias. Incluye ejemplos guiados y la alternativa manual.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21CC0-F010-4458-8BE6-B9595731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0"/>
            <a:ext cx="9334500" cy="2590800"/>
          </a:xfrm>
          <a:prstGeom xmlns:a="http://schemas.openxmlformats.org/drawingml/2006/main" prst="roundRect">
            <a:avLst>
              <a:gd name="adj" fmla="val 55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9B861-B303-4CE9-987B-E5208FC9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0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76239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B874E-2620-4BD8-98A9-3CAAE685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242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D13EA6-F89C-4D65-8AA5-0C8F579F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162300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REGLA, TIPO Y REFERENCIA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2FA87-FE62-4A7F-B185-F8EEE39E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05225"/>
            <a:ext cx="2619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Regla o chequeo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6AFCE-F3B6-4E24-AB48-088587F9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70522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Comprueba una condición y explica el hallazgo. Ejemplo: intervalo mayor que el autorizado.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31EE7-B681-4036-A024-49E11823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2619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Tipo de discrepancia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25955-3421-4E73-914D-BDF1EE7B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457700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Agrupa chequeos, como Incorrect DIP Interval. Un nombre nuevo necesita reglas.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2F1006-F4CD-4E2C-A66D-51B557A6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33975"/>
            <a:ext cx="2619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Referencia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CAAFC9-8985-4B80-ABF7-3B69AFE4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1054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Aporta el TA, RIR, Parent Assembly y fuente técnica con los que se compara el DIP.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BD5BD-7749-4C09-A774-7CDC9D48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734050"/>
            <a:ext cx="9334500" cy="3352800"/>
          </a:xfrm>
          <a:prstGeom xmlns:a="http://schemas.openxmlformats.org/drawingml/2006/main" prst="roundRect">
            <a:avLst>
              <a:gd name="adj" fmla="val 42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083ECE-6D98-4E1B-8383-D0664698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734050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06BB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F6B5E2-CD82-455E-9370-36BED58D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C606CE-CEAD-4CD0-AD13-A912E17E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848350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DOS ALTERNATIVAS PARA AGREGAR UN CHEQUEO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CF9805-E17E-4593-8B74-BA9EED3B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43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A. Generador de ejemplos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E094DC-05EC-4A98-91F7-08D8AACD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86575"/>
            <a:ext cx="8667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Abra docs/generar_regla.bat. Responda las preguntas y obtenga una función Python, un bloque YAML y una prueba con instrucciones de integración.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F72504-1E84-4609-B9F3-9F5E6680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0"/>
            <a:ext cx="843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B. Edición manual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104371-56F3-4433-B1EF-7415B3D1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53425"/>
            <a:ext cx="866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Escriba e integre la regla directamente. Es la opción para fechas, referencias, TA, RIR o comparaciones entre varios DIPs.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904FF6-D5D5-4424-B8FB-A61A165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286875"/>
            <a:ext cx="9334500" cy="2552700"/>
          </a:xfrm>
          <a:prstGeom xmlns:a="http://schemas.openxmlformats.org/drawingml/2006/main" prst="roundRect">
            <a:avLst>
              <a:gd name="adj" fmla="val 5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98B702-302E-4B97-8820-EA79FC9F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286875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76239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1C3E0D-89CB-471E-B111-7BD3D730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3630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85218D-6DCA-4538-96A7-2F2721B3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9401175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ARCHIVOS QUE INTERVIENEN</a:t>
            </a:r>
          </a:p>
        </p:txBody>
      </p:sp>
      <p:graphicFrame>
        <p:nvGraphicFramePr>
          <p:cNvPr id="75" name=""/>
          <p:cNvGraphicFramePr/>
          <p:nvPr/>
        </p:nvGraphicFramePr>
        <p:xfrm>
          <a:off xmlns:a="http://schemas.openxmlformats.org/drawingml/2006/main" x="514350" y="9906000"/>
          <a:ext xmlns:a="http://schemas.openxmlformats.org/drawingml/2006/main" cx="8724900" cy="1752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4914900"/>
              </a:tblGrid>
              <a:tr h="438150">
                <a:tc>
                  <a:txBody>
                    <a:bodyPr lIns="114300" tIns="76200" rIns="114300" bIns="76200"/>
                    <a:lstStyle/>
                    <a:p>
                      <a:r>
                        <a:rPr sz="1425" b="1">
                          <a:solidFill>
                            <a:srgbClr val="073C78"/>
                          </a:solidFill>
                          <a:latin typeface="Arial"/>
                          <a:ea typeface="Arial"/>
                          <a:cs typeface="Arial"/>
                        </a:rPr>
                        <a:t>Archivo</a:t>
                      </a:r>
                    </a:p>
                  </a:txBody>
                  <a:tcPr marL="91440" marR="91440" marT="45720" marB="45720">
                    <a:solidFill>
                      <a:srgbClr val="DDEFFC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1">
                          <a:solidFill>
                            <a:srgbClr val="073C78"/>
                          </a:solidFill>
                          <a:latin typeface="Arial"/>
                          <a:ea typeface="Arial"/>
                          <a:cs typeface="Arial"/>
                        </a:rPr>
                        <a:t>Qué se cambia</a:t>
                      </a:r>
                    </a:p>
                  </a:txBody>
                  <a:tcPr marL="91440" marR="91440" marT="45720" marB="45720">
                    <a:solidFill>
                      <a:srgbClr val="DDEFFC"/>
                    </a:solidFill>
                  </a:tcPr>
                </a:tc>
              </a:tr>
              <a:tr h="43815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dips_audit/reglas.py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Condición y llamada desde auditar_dip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config/discrepancias.yaml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Código, tipo, severidad y activación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tests/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Casos que fallan, cumplen y excepciones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A7842C-780E-4FF8-9523-38F14A23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2030075"/>
            <a:ext cx="9334500" cy="1438275"/>
          </a:xfrm>
          <a:prstGeom xmlns:a="http://schemas.openxmlformats.org/drawingml/2006/main" prst="roundRect">
            <a:avLst>
              <a:gd name="adj" fmla="val 9934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2C7051-3FE5-4E1C-AC85-236E42BF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220575"/>
            <a:ext cx="872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Una regla nueva necesita detección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C4657C-B073-45CF-9291-E6BB3130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620625"/>
            <a:ext cx="8724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Agregar un código al YAML o generar ejemplos todavía no hace que el chequeo se ejecute. Hay que integrar la función y comprobarla.</a:t>
            </a:r>
          </a:p>
        </p:txBody>
      </p:sp>
    </p:spTree>
    <p:extLst>
      <p:ext uri="{BB962C8B-B14F-4D97-AF65-F5344CB8AC3E}">
        <p14:creationId xmlns:p14="http://schemas.microsoft.com/office/powerpoint/2010/main" val="774324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FC5ACC-F6AD-4E6E-9580-4934004F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1562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8722AF"/>
              </a:gs>
              <a:gs pos="45000">
                <a:srgbClr val="292278"/>
              </a:gs>
              <a:gs pos="75000">
                <a:srgbClr val="003D8D"/>
              </a:gs>
              <a:gs pos="100000">
                <a:srgbClr val="087CC9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DAD2C-D8DD-4026-A26B-508586CF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BAB73-84A8-4991-829A-F1937ECB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8125"/>
            <a:ext cx="95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22BE4-686B-4DF7-BD72-EBCA4275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"/>
            <a:ext cx="4076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GUÍA RÁPIDA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DE983-64D8-4677-864B-D7D976D3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9048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EJEMPLOS GUIADOS DE REGLAS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61fbde6264244"/>
          <a:stretch xmlns:a="http://schemas.openxmlformats.org/drawingml/2006/main"/>
        </p:blipFill>
        <p:spPr>
          <a:xfrm xmlns:a="http://schemas.openxmlformats.org/drawingml/2006/main">
            <a:off x="7886700" y="583871"/>
            <a:ext cx="1666875" cy="44198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AF1B6-D6B3-40DC-ABB3-C838E47B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696950"/>
            <a:ext cx="9753600" cy="9334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3D8D"/>
              </a:gs>
              <a:gs pos="100000">
                <a:srgbClr val="006BBE"/>
              </a:gs>
            </a:gsLst>
            <a:lin ang="5400000"/>
          </a:gradFill>
          <a:ln xmlns:a="http://schemas.openxmlformats.org/drawingml/2006/main" w="0">
            <a:noFill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a8c172bb847ac"/>
          <a:stretch xmlns:a="http://schemas.openxmlformats.org/drawingml/2006/main"/>
        </p:blipFill>
        <p:spPr>
          <a:xfrm xmlns:a="http://schemas.openxmlformats.org/drawingml/2006/main">
            <a:off x="228600" y="13982700"/>
            <a:ext cx="2333625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0A18B-625F-4867-AAB2-72C24C0D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00175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2A7CA-F8E3-4078-82E2-AC36CD56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414462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/ 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70D80-FE0F-4EB5-84E6-C5D16C9A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43075"/>
            <a:ext cx="9334500" cy="1876425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F4A55-ABA9-4C8A-B3D1-9BC82060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43075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76239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97777-423C-4753-9AFF-6C0C25EA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192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C1FD8-AA33-481F-AE26-D02FCBBF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57375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DEFINICIÓN DEL CRITERIO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D363B-1865-41F1-A2C1-2B341DAD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866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Antes de generar: defina el dato, la condición que falla, la etapa y sus excepciones. Decida qué hacer si el dato no está disponible.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5E5A8-27EC-492B-A6CE-748C4317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866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Ejemplo didáctico: informar una descripción vacía en un DIP activo. El auditor debe aprobar el criterio antes de integrarlo.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59370-63BE-4556-AC24-8A90752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800475"/>
            <a:ext cx="9334500" cy="4610100"/>
          </a:xfrm>
          <a:prstGeom xmlns:a="http://schemas.openxmlformats.org/drawingml/2006/main" prst="roundRect">
            <a:avLst>
              <a:gd name="adj" fmla="val 30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59643-DB11-4F62-B894-B67ADD24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800475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06BB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246D78-70FA-4833-8604-8723989D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766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455F12-F406-444F-A61E-26D6E5F9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14775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PREGUNTAS DEL GENERADOR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02BD9-9BF6-490B-B94F-049ECDA9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67225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En docs, haga doble clic en generar_regla.bat. Si falta .venv, ejecute primero setup.bat desde la carpeta DIPS.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514350" y="5172075"/>
          <a:ext xmlns:a="http://schemas.openxmlformats.org/drawingml/2006/main" cx="87249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5486400"/>
              </a:tblGrid>
              <a:tr h="371475">
                <a:tc>
                  <a:txBody>
                    <a:bodyPr lIns="114300" tIns="76200" rIns="114300" bIns="76200"/>
                    <a:lstStyle/>
                    <a:p>
                      <a:r>
                        <a:rPr sz="1425" b="1">
                          <a:solidFill>
                            <a:srgbClr val="073C78"/>
                          </a:solidFill>
                          <a:latin typeface="Arial"/>
                          <a:ea typeface="Arial"/>
                          <a:cs typeface="Arial"/>
                        </a:rPr>
                        <a:t>Pregunta</a:t>
                      </a:r>
                    </a:p>
                  </a:txBody>
                  <a:tcPr marL="91440" marR="91440" marT="45720" marB="45720">
                    <a:solidFill>
                      <a:srgbClr val="DDEFFC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1">
                          <a:solidFill>
                            <a:srgbClr val="073C78"/>
                          </a:solidFill>
                          <a:latin typeface="Arial"/>
                          <a:ea typeface="Arial"/>
                          <a:cs typeface="Arial"/>
                        </a:rPr>
                        <a:t>Respuesta de ejemplo</a:t>
                      </a:r>
                    </a:p>
                  </a:txBody>
                  <a:tcPr marL="91440" marR="91440" marT="45720" marB="45720">
                    <a:solidFill>
                      <a:srgbClr val="DDEFFC"/>
                    </a:solidFill>
                  </a:tcPr>
                </a:tc>
              </a:tr>
              <a:tr h="371475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Código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descripcion_obligatoria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Tipo de discrepancia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Datos requeridos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Campo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Descripción del DIP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Condición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vacio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Etapa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APERTURA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Severidad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OBSERVACION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Mensaje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La descripción del DIP está vacía.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69F0C-A586-4893-A74E-144FB133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591550"/>
            <a:ext cx="9334500" cy="2781300"/>
          </a:xfrm>
          <a:prstGeom xmlns:a="http://schemas.openxmlformats.org/drawingml/2006/main" prst="roundRect">
            <a:avLst>
              <a:gd name="adj" fmla="val 5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2FD471-73E7-458E-8948-F1F386C8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591550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76239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488AC7-3956-48F8-8FE4-F6CA7EC5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6677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E07B79-8DB2-449A-8A1A-D1ABFD66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8705850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ARCHIVOS PREPARADOS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AD7DEB-8A9B-4A7D-BF17-B9B21A0F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48775"/>
            <a:ext cx="866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Abra docs/ejemplos/generados/descripcion_obligatoria/.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6686E6-7E82-42ED-B60E-DAE7A83F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44075"/>
            <a:ext cx="866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regla.py.txt: función del chequeo.</a:t>
            </a:r>
          </a:p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discrepancias.yaml.txt: registro del código.</a:t>
            </a:r>
          </a:p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prueba.py.txt: casos para el flujo real.</a:t>
            </a:r>
          </a:p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LEEME.md: dónde copiar, conectar y comprobar.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F2B400-523A-4F99-A2C0-A70A1948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982325"/>
            <a:ext cx="866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El generador conserva la auditoría actual y no sobrescribe una carpeta existente.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32EE0C-81D8-45FE-A1DD-C543FAB3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1553825"/>
            <a:ext cx="9334500" cy="1266825"/>
          </a:xfrm>
          <a:prstGeom xmlns:a="http://schemas.openxmlformats.org/drawingml/2006/main" prst="roundRect">
            <a:avLst>
              <a:gd name="adj" fmla="val 11278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C3928A-9B4C-4A55-9401-EFE6F542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744325"/>
            <a:ext cx="872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Alcance de los ejemplos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5769CC-D345-4110-BDFB-6020F5B2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44375"/>
            <a:ext cx="872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Campo vacío o texto que falta, sin distinguir mayúsculas. Las comparaciones de fechas, TA, RIR, referencias y varios DIPs requieren código específico.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EC25D6-5F0D-409C-BEF3-D9EF5D7A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82575"/>
            <a:ext cx="872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Ejemplo listo para leer: docs/ejemplos/descripcion_obligatoria/.</a:t>
            </a:r>
          </a:p>
        </p:txBody>
      </p:sp>
    </p:spTree>
    <p:extLst>
      <p:ext uri="{BB962C8B-B14F-4D97-AF65-F5344CB8AC3E}">
        <p14:creationId xmlns:p14="http://schemas.microsoft.com/office/powerpoint/2010/main" val="446451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636411-CA97-4785-BD5A-FF1C56EF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1562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8722AF"/>
              </a:gs>
              <a:gs pos="45000">
                <a:srgbClr val="292278"/>
              </a:gs>
              <a:gs pos="75000">
                <a:srgbClr val="003D8D"/>
              </a:gs>
              <a:gs pos="100000">
                <a:srgbClr val="087CC9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65EB4-DCA6-4674-B2EA-76A77E2B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7EBB6-AE23-499D-AF30-38326E19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8125"/>
            <a:ext cx="95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23B8D-0FC2-4F92-8703-D4137070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"/>
            <a:ext cx="4076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GUÍA RÁPIDA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275DA-8AE3-4ED6-BC5C-9252EBFB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9048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INTEGRACIÓN MANUAL DEL CHEQUEO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7b6e65e284449"/>
          <a:stretch xmlns:a="http://schemas.openxmlformats.org/drawingml/2006/main"/>
        </p:blipFill>
        <p:spPr>
          <a:xfrm xmlns:a="http://schemas.openxmlformats.org/drawingml/2006/main">
            <a:off x="7886700" y="583871"/>
            <a:ext cx="1666875" cy="44198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E7685-4FEB-4396-B391-DD3DF160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696950"/>
            <a:ext cx="9753600" cy="9334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3D8D"/>
              </a:gs>
              <a:gs pos="100000">
                <a:srgbClr val="006BBE"/>
              </a:gs>
            </a:gsLst>
            <a:lin ang="5400000"/>
          </a:gradFill>
          <a:ln xmlns:a="http://schemas.openxmlformats.org/drawingml/2006/main" w="0">
            <a:noFill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6404036374d0b"/>
          <a:stretch xmlns:a="http://schemas.openxmlformats.org/drawingml/2006/main"/>
        </p:blipFill>
        <p:spPr>
          <a:xfrm xmlns:a="http://schemas.openxmlformats.org/drawingml/2006/main">
            <a:off x="228600" y="13982700"/>
            <a:ext cx="2333625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3F6F7-8170-44BA-B4D7-59746C66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00175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EB97D-A614-4415-B7CE-66486205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414462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/ 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3D295-18C4-4280-8101-D0E86027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43075"/>
            <a:ext cx="9334500" cy="4514850"/>
          </a:xfrm>
          <a:prstGeom xmlns:a="http://schemas.openxmlformats.org/drawingml/2006/main" prst="roundRect">
            <a:avLst>
              <a:gd name="adj" fmla="val 31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26E49-E219-4C37-9B90-62C71A40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43075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76239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F5320-B184-4713-955A-F62B050F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192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9B6A0-5D39-4C02-9787-B785D402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57375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FUNCIÓN EN DIPS_AUDIT/REGLAS.PY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81E68-6F27-4BE1-A0A7-55105D4E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8724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Ejemplo didáctico, pendiente de aprobar el criterio: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E0CAA-3E0A-4AA7-93CE-1B820902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38450"/>
            <a:ext cx="8915400" cy="2495550"/>
          </a:xfrm>
          <a:prstGeom xmlns:a="http://schemas.openxmlformats.org/drawingml/2006/main" prst="roundRect">
            <a:avLst>
              <a:gd name="adj" fmla="val 2290"/>
            </a:avLst>
          </a:prstGeom>
          <a:solidFill xmlns:a="http://schemas.openxmlformats.org/drawingml/2006/main">
            <a:srgbClr val="F4F9FD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395E7-AF85-4444-B85E-E9EDB156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990850"/>
            <a:ext cx="86106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def regla_descripcion_obligatoria(dip, ctx, r):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    if dip.get("estado") not in ACTIVOS: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        return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    if "descripcion" not in dip: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        r.manuales.append("Verificar descripción: dato no disponible.")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        return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    if not str(dip.get("descripcion") or "").strip():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        r.agregar(ctx, "descripcion_obligatoria", "Datos requeridos",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                  "La descripción del DIP está vacía.")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C1627-AD59-4C9F-8A5B-B1338C58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14975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r.agregar aplica tipo, activación y severidad del YAML. Algunas reglas existentes fijan una severidad en Python para casos específicos.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F2ACC-2C2D-46D8-9AC4-29D07DA8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448425"/>
            <a:ext cx="9334500" cy="1790700"/>
          </a:xfrm>
          <a:prstGeom xmlns:a="http://schemas.openxmlformats.org/drawingml/2006/main" prst="roundRect">
            <a:avLst>
              <a:gd name="adj" fmla="val 7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878A6E-F570-4B90-83DC-819C4478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448425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06B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B7071-DAC9-4A66-9C3F-B1947142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2462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D4D954-BC97-45FC-906E-929B8523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562725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CONEXIÓN AL FLUJO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0249E-3D7D-4BFD-AE81-D3BF82FE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15175"/>
            <a:ext cx="866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En auditar_dip, antes de return r, agregue la llamada: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27D761-3980-4515-9339-27A17098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553325"/>
            <a:ext cx="8915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9FD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99C768-3D84-448C-97BE-11FF5E56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705725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regla_descripcion_obligatoria(dip, ctx, r)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8E5E8C-9D72-4916-92D5-BD844168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429625"/>
            <a:ext cx="9334500" cy="21431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C47E40-F187-4AEA-A445-2971BBB0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429625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76239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A9CF65-F1FC-4CA5-960B-DE400EEF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50582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2F4202-E087-45CF-86CD-DCAD6738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8543925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REGISTRO EN CONFIG/DISCREPANCIAS.YAML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8AB0AC-E7E1-44C9-889D-FA2195D3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48750"/>
            <a:ext cx="866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Dentro del bloque tipos: existente: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F5BB1D-0B27-447A-AD12-757588DD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496425"/>
            <a:ext cx="891540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9FD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F515ED-43BB-4919-A7C6-3CF9E68F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9648825"/>
            <a:ext cx="8610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  Datos requeridos: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    reglas: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      descripcion_obligatoria: OBSERVACION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206B7B-FA8A-4E1A-95BD-6AEFFC5E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763250"/>
            <a:ext cx="9334500" cy="1266825"/>
          </a:xfrm>
          <a:prstGeom xmlns:a="http://schemas.openxmlformats.org/drawingml/2006/main" prst="roundRect">
            <a:avLst>
              <a:gd name="adj" fmla="val 11278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0C1399-F571-4809-9DFC-B14D4E3E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953750"/>
            <a:ext cx="872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Reglas de cierre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4AAE36-D589-414C-AA70-D9CECB40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53800"/>
            <a:ext cx="872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Agregue el código a CODIGOS_CIERRE y limite la función a los estados aplicables. Esa lista clasifica el hallazgo, pero no limita su ejecución.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74047B-1BE3-4440-B276-C9FCB081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230100"/>
            <a:ext cx="8705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Si necesita la referencia asociada, datos de ICAM o comparar DIPs, integre en auditor.py o en la etapa correspondiente. Extraiga primero cualquier dato que aún no exista.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CB408B-A03D-4636-BA06-76EA2BA1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68300"/>
            <a:ext cx="872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Una función sin llamada no se ejecuta. YAML sin función no crea el chequeo.</a:t>
            </a:r>
          </a:p>
        </p:txBody>
      </p:sp>
    </p:spTree>
    <p:extLst>
      <p:ext uri="{BB962C8B-B14F-4D97-AF65-F5344CB8AC3E}">
        <p14:creationId xmlns:p14="http://schemas.microsoft.com/office/powerpoint/2010/main" val="3667034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D46697-0D73-46D1-B074-00844F27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1562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8722AF"/>
              </a:gs>
              <a:gs pos="45000">
                <a:srgbClr val="292278"/>
              </a:gs>
              <a:gs pos="75000">
                <a:srgbClr val="003D8D"/>
              </a:gs>
              <a:gs pos="100000">
                <a:srgbClr val="087CC9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987C5-D975-4094-B521-12CCB9B0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EF3DC-7B38-4DD5-AF41-73441407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8125"/>
            <a:ext cx="95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BBA04-CC53-4827-94D8-2F1EC4FF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"/>
            <a:ext cx="4076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GUÍA RÁPIDA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07247-A124-4124-B9DA-2D9341BF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9048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VALIDACIÓN Y CLASIFICACIÓN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ee2878f8d49d9"/>
          <a:stretch xmlns:a="http://schemas.openxmlformats.org/drawingml/2006/main"/>
        </p:blipFill>
        <p:spPr>
          <a:xfrm xmlns:a="http://schemas.openxmlformats.org/drawingml/2006/main">
            <a:off x="7886700" y="583871"/>
            <a:ext cx="1666875" cy="44198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D475D-888B-4592-BE67-8C4409AD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696950"/>
            <a:ext cx="9753600" cy="9334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3D8D"/>
              </a:gs>
              <a:gs pos="100000">
                <a:srgbClr val="006BBE"/>
              </a:gs>
            </a:gsLst>
            <a:lin ang="5400000"/>
          </a:gradFill>
          <a:ln xmlns:a="http://schemas.openxmlformats.org/drawingml/2006/main" w="0">
            <a:noFill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aed28fbbd4f30"/>
          <a:stretch xmlns:a="http://schemas.openxmlformats.org/drawingml/2006/main"/>
        </p:blipFill>
        <p:spPr>
          <a:xfrm xmlns:a="http://schemas.openxmlformats.org/drawingml/2006/main">
            <a:off x="228600" y="13982700"/>
            <a:ext cx="2333625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230FE-CC80-4208-8953-4442D878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00175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E366B-4D7D-4FFC-98CD-1ADD1DE4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414462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 / 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B47C8-1EAE-4525-B255-2052D5D2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43075"/>
            <a:ext cx="9334500" cy="32004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5AC81-A698-454E-99CC-16B5AABA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43075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76239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987AD-1E86-473E-81B4-A8EDD782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192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F1E2E-D0DB-46E0-B26B-985E6A65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57375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COMPROBACIÓN DE UN CHEQUEO NUEVO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ACE15-3E0D-48EC-91DF-C89F7C6B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Pruebe: caso que falla, caso que cumple, excepciones, dato no disponible, etapa y regla desactivada. La prueba debe llamar al flujo real.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9FBB3-4243-4C53-8ED4-FA001FDC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09925"/>
            <a:ext cx="891540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4F9FD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49C4E-6139-4EDA-ABCB-A8648A4D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62325"/>
            <a:ext cx="8610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.venv\Scripts\python -m dips_audit validar-reglas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.venv\Scripts\python -m pytest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.venv\Scripts\python -m dips_audit benchmark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4A88D-B15B-44D5-A86C-E6B29ED6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870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Validar-reglas revisa formato y códigos. Las pruebas verifican la condición y conexión. Revise los cambios de resultados del benchmark.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7C5459-E22F-4467-B6A0-B47810A7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133975"/>
            <a:ext cx="9334500" cy="3162300"/>
          </a:xfrm>
          <a:prstGeom xmlns:a="http://schemas.openxmlformats.org/drawingml/2006/main" prst="roundRect">
            <a:avLst>
              <a:gd name="adj" fmla="val 45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1A1BF-D186-431A-BE03-7CF8AF65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133975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06B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61308-E7BE-49BD-8666-E5DD8382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101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23F2DD-4556-456C-8574-C9D21820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248275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SEVERIDAD Y RESULTADO VISIBLE</a:t>
            </a:r>
          </a:p>
        </p:txBody>
      </p:sp>
      <p:graphicFrame>
        <p:nvGraphicFramePr>
          <p:cNvPr id="62" name=""/>
          <p:cNvGraphicFramePr/>
          <p:nvPr/>
        </p:nvGraphicFramePr>
        <p:xfrm>
          <a:off xmlns:a="http://schemas.openxmlformats.org/drawingml/2006/main" x="514350" y="5753100"/>
          <a:ext xmlns:a="http://schemas.openxmlformats.org/drawingml/2006/main" cx="87249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4057650"/>
              </a:tblGrid>
              <a:tr h="409575">
                <a:tc>
                  <a:txBody>
                    <a:bodyPr lIns="114300" tIns="76200" rIns="114300" bIns="76200"/>
                    <a:lstStyle/>
                    <a:p>
                      <a:r>
                        <a:rPr sz="1500" b="1">
                          <a:solidFill>
                            <a:srgbClr val="073C78"/>
                          </a:solidFill>
                          <a:latin typeface="Arial"/>
                          <a:ea typeface="Arial"/>
                          <a:cs typeface="Arial"/>
                        </a:rPr>
                        <a:t>Valor en YAML</a:t>
                      </a:r>
                    </a:p>
                  </a:txBody>
                  <a:tcPr marL="91440" marR="91440" marT="45720" marB="45720">
                    <a:solidFill>
                      <a:srgbClr val="DDEFFC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1">
                          <a:solidFill>
                            <a:srgbClr val="073C78"/>
                          </a:solidFill>
                          <a:latin typeface="Arial"/>
                          <a:ea typeface="Arial"/>
                          <a:cs typeface="Arial"/>
                        </a:rPr>
                        <a:t>Efecto visible</a:t>
                      </a:r>
                    </a:p>
                  </a:txBody>
                  <a:tcPr marL="91440" marR="91440" marT="45720" marB="45720">
                    <a:solidFill>
                      <a:srgbClr val="DDEFFC"/>
                    </a:solidFill>
                  </a:tcPr>
                </a:tc>
              </a:tr>
              <a:tr h="409575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CRITICA / NO CRITICA / REVISAR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POSIBLE DISCREPANCIA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CONSULTAR MANUAL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REVISAR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SIN FUENTE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SIN FUENTE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OBSERVACION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Informa sin cambiar el resultado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3DBBBE-D52D-4928-B9AE-06281EE6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48600"/>
            <a:ext cx="866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REVISAR en YAML produce POSIBLE DISCREPANCIA. Prevalece el hallazgo de mayor severidad cuando hay varios.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11F4AE-F934-4EC6-B1B4-54104230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401050"/>
            <a:ext cx="9334500" cy="2266950"/>
          </a:xfrm>
          <a:prstGeom xmlns:a="http://schemas.openxmlformats.org/drawingml/2006/main" prst="roundRect">
            <a:avLst>
              <a:gd name="adj" fmla="val 63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DCD068-F33A-4C95-9CA0-CFC70D6B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401050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76239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760CC9-4826-4B93-9121-7B0D5CA3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477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F9EA42-4D27-450A-8E4F-B713C350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8515350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TIPOS Y ACTIVACIÓN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C4DDED-9110-4962-B1AF-D88AC759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678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Para crear un tipo con reglas existentes, mueva sus códigos al nuevo bloque sin duplicarlos. Elimine el tipo anterior si queda vacío. Revise sus filtros --categorias.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FDD877-DD79-43EB-9665-EF739E6F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839325"/>
            <a:ext cx="891540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4F9FD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A9A54D-A0AD-4490-A44C-13303054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9991725"/>
            <a:ext cx="8610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descripcion_obligatoria: {activa: false, severidad: OBSERVACION}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320AFA-66E1-4EA5-BBDF-82159BC9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382250"/>
            <a:ext cx="866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Un tipo completo se desactiva con activo: false junto a reglas:.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955D90-CC3E-426F-BF7F-E213637B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858500"/>
            <a:ext cx="9334500" cy="2609850"/>
          </a:xfrm>
          <a:prstGeom xmlns:a="http://schemas.openxmlformats.org/drawingml/2006/main" prst="roundRect">
            <a:avLst>
              <a:gd name="adj" fmla="val 5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D789CA-13EF-44E9-924D-C8B1B8BE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858500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06BB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51C71D-E549-4613-B565-441CCC21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9347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D5F192-02F3-4638-9994-9E52AFBE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0972800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SELECCIÓN DE CHEQUEOS EN UNA EJECUCIÓN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949CC2-1126-4DD5-B676-F6834E11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77625"/>
            <a:ext cx="89154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9FD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DCEC1C-1F70-43F1-8DAD-32E29FC1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30025"/>
            <a:ext cx="861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.venv\Scripts\python -m dips_audit categorias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auditar.bat "entrada.xlsx" --categorias RIR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auditar.bat "entrada.xlsx" --excluir-categorias "Missing S/N"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33FA52-1F62-4819-9F51-A15E9044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6301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--categorias filtra discrepancias. --tipos-dip Others filtra tipos de DIP (Area / Type DIP). Los tipos y las reglas también deben estar activos.</a:t>
            </a:r>
          </a:p>
        </p:txBody>
      </p:sp>
    </p:spTree>
    <p:extLst>
      <p:ext uri="{BB962C8B-B14F-4D97-AF65-F5344CB8AC3E}">
        <p14:creationId xmlns:p14="http://schemas.microsoft.com/office/powerpoint/2010/main" val="13382391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9EC6C9-08D0-45FD-8FC1-47BED753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1562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8722AF"/>
              </a:gs>
              <a:gs pos="45000">
                <a:srgbClr val="292278"/>
              </a:gs>
              <a:gs pos="75000">
                <a:srgbClr val="003D8D"/>
              </a:gs>
              <a:gs pos="100000">
                <a:srgbClr val="087CC9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36A24-F0EE-4454-A1A7-CF621FEE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43224-4719-4EB3-B9A5-8C55AAA4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8125"/>
            <a:ext cx="95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BEB2A-8201-41C0-8D37-E8256DE0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"/>
            <a:ext cx="4076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GUÍA RÁPIDA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4B904-EDA6-4325-9F8A-21931C24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9048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ARCHIVO Y ENLACE DE REFERENCIAS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e187e2c73489e"/>
          <a:stretch xmlns:a="http://schemas.openxmlformats.org/drawingml/2006/main"/>
        </p:blipFill>
        <p:spPr>
          <a:xfrm xmlns:a="http://schemas.openxmlformats.org/drawingml/2006/main">
            <a:off x="7886700" y="583871"/>
            <a:ext cx="1666875" cy="44198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AA945-C6CD-4932-AAB6-6E9E7793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696950"/>
            <a:ext cx="9753600" cy="9334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3D8D"/>
              </a:gs>
              <a:gs pos="100000">
                <a:srgbClr val="006BBE"/>
              </a:gs>
            </a:gsLst>
            <a:lin ang="5400000"/>
          </a:gradFill>
          <a:ln xmlns:a="http://schemas.openxmlformats.org/drawingml/2006/main" w="0">
            <a:noFill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2684d31604ace"/>
          <a:stretch xmlns:a="http://schemas.openxmlformats.org/drawingml/2006/main"/>
        </p:blipFill>
        <p:spPr>
          <a:xfrm xmlns:a="http://schemas.openxmlformats.org/drawingml/2006/main">
            <a:off x="228600" y="13982700"/>
            <a:ext cx="2333625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AF75C-61E6-49B4-AADC-483CB67E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00175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72125-0CB4-4D64-90CD-0FB9AD93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414462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/ 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7B6C4-ED0E-4FFA-B591-DD6A74DE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43075"/>
            <a:ext cx="9334500" cy="2800350"/>
          </a:xfrm>
          <a:prstGeom xmlns:a="http://schemas.openxmlformats.org/drawingml/2006/main" prst="roundRect">
            <a:avLst>
              <a:gd name="adj" fmla="val 51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D3C5A-B9A2-4AD7-A6F5-9D998AE4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43075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76239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5F1E3-F6FA-464A-B636-0E0C6BBE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192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33FD6-66BE-4080-AC15-3390432B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57375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FUENTES DE LA TABLA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51246-E43C-4B2E-B513-53EC5DED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866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Archivo local inicial: DIPs References.xlsx, en la raíz de DIPS.</a:t>
            </a:r>
          </a:p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Hoja: References.</a:t>
            </a:r>
          </a:p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Fuente preferida: referencias_sharepoint en config/config.yaml.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1B5E2-8C0D-42FC-AE58-2FB009B1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33775"/>
            <a:ext cx="866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6BB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BBE"/>
                </a:solidFill>
                <a:latin typeface="Arial"/>
                <a:ea typeface="Arial"/>
                <a:cs typeface="Arial"/>
                <a:hlinkClick xmlns:r="http://schemas.openxmlformats.org/officeDocument/2006/relationships" r:id="R064c32ceb1264014"/>
              </a:rPr>
              <a:t>Abrir DIPs References.xlsx en SharePoint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63DA5-5A9D-4F0F-8FB1-3D8AB271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866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Use su cuenta corporativa y permiso de acceso. El enlace es el configurado en el sistema.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39D48-1BC4-4DA5-BAB2-61E040BF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733925"/>
            <a:ext cx="9334500" cy="3286125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2D52BC-756D-42E9-85CA-AB1ED6D3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733925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06B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564BE-452D-441A-94CC-E200C459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81012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0F3332-B5E1-4132-BC4C-1DBA512E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848225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CÓMO SE USAN LAS REFERENCIAS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14988F-C20A-4A16-AF99-B06632EA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00675"/>
            <a:ext cx="8667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1. En una auditoría normal, el programa intenta descargar la tabla de SharePoint. Inicie sesión en Edge si Microsoft lo pide.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A64517-BA75-4C4A-81FA-CC9111F6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0300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2. Valida la descarga antes de sustituir la copia de data/.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4781E8-33F3-44CD-8655-8E16165D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24650"/>
            <a:ext cx="866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3. Si falla, usa la última copia válida o el archivo local inicial. La consola informa qué copia y fecha está usando.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3C9A4-FC52-4852-BED3-AB90439F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9025"/>
            <a:ext cx="866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4. Asocia el DIP con una fila y aplica sus chequeos. Si ninguna fuente es válida, la auditoría se detiene.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9F8700-661B-4BCD-88C7-AB9023AC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210550"/>
            <a:ext cx="9334500" cy="2771775"/>
          </a:xfrm>
          <a:prstGeom xmlns:a="http://schemas.openxmlformats.org/drawingml/2006/main" prst="roundRect">
            <a:avLst>
              <a:gd name="adj" fmla="val 5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8E33D3-1EA2-4E28-BD59-2856C6E3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210550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76239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EBB737-46E4-446B-A9FB-248416A7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2867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CD1261-E509-4B0A-AE08-CE5B2461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8324850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ELEGIR OTRA FUENTE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646B02-9BC9-482C-8E62-A758F359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829675"/>
            <a:ext cx="8915400" cy="1076325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4F9FD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67486D-D108-4215-93A9-B51722EF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982075"/>
            <a:ext cx="86106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auditar.bat "entrada.xlsx" --referencias "DIPs References.xlsx"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auditar.bat "entrada.xlsx" --referencias "C:\Referencias\tabla.pdf"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auditar.bat "entrada.xlsx" --referencias "ENLACE_DE_SHAREPOINT"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3D9587-668A-456F-90A2-562AD78C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58400"/>
            <a:ext cx="866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--referencias elige la fuente solo para esa ejecución. Para cambiar la habitual, edite referencias y referencias_sharepoint en config/config.yaml. Para usar siempre la local: referencias_sharepoint: "".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740F0D-5AA7-4396-9225-67A09D21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1172825"/>
            <a:ext cx="9334500" cy="13144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B380BB-C8A4-4B25-A110-33B7B841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63325"/>
            <a:ext cx="872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Pruebas y formato PDF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CA6B9B-2ADB-4BCC-9C6F-ACC63496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763375"/>
            <a:ext cx="8724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Modo prueba y benchmark usan la referencia local, salvo --referencias. El PDF necesita texto seleccionable y las nueve columnas en una misma tabla.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D13A34-E511-49B7-8D9B-EDC3A25B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668250"/>
            <a:ext cx="8667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Sin --icam se audita solo con el Excel y se ejecutan menos controles. Las referencias y los datos de ICAM cumplen funciones distintas.</a:t>
            </a:r>
          </a:p>
        </p:txBody>
      </p:sp>
    </p:spTree>
    <p:extLst>
      <p:ext uri="{BB962C8B-B14F-4D97-AF65-F5344CB8AC3E}">
        <p14:creationId xmlns:p14="http://schemas.microsoft.com/office/powerpoint/2010/main" val="1315034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689FC3-449E-44C4-ADC4-9DC23C84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1562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8722AF"/>
              </a:gs>
              <a:gs pos="45000">
                <a:srgbClr val="292278"/>
              </a:gs>
              <a:gs pos="75000">
                <a:srgbClr val="003D8D"/>
              </a:gs>
              <a:gs pos="100000">
                <a:srgbClr val="087CC9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A41B1-52B4-414C-8A75-5D0A825F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C098D-06CA-43EC-88C8-7C2D06A9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8125"/>
            <a:ext cx="95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562A5-7519-4A55-ACD5-DE94706E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"/>
            <a:ext cx="4076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GUÍA RÁPIDA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A5F0B-FA42-4811-8DF7-BDF209EE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9048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CÓMO AGREGAR UNA REFERENCIA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14208daca4ead"/>
          <a:stretch xmlns:a="http://schemas.openxmlformats.org/drawingml/2006/main"/>
        </p:blipFill>
        <p:spPr>
          <a:xfrm xmlns:a="http://schemas.openxmlformats.org/drawingml/2006/main">
            <a:off x="7886700" y="583871"/>
            <a:ext cx="1666875" cy="44198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1E638-58BC-484F-BD97-19E1B580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696950"/>
            <a:ext cx="9753600" cy="9334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3D8D"/>
              </a:gs>
              <a:gs pos="100000">
                <a:srgbClr val="006BBE"/>
              </a:gs>
            </a:gsLst>
            <a:lin ang="5400000"/>
          </a:gradFill>
          <a:ln xmlns:a="http://schemas.openxmlformats.org/drawingml/2006/main" w="0">
            <a:noFill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ed418ccac4d23"/>
          <a:stretch xmlns:a="http://schemas.openxmlformats.org/drawingml/2006/main"/>
        </p:blipFill>
        <p:spPr>
          <a:xfrm xmlns:a="http://schemas.openxmlformats.org/drawingml/2006/main">
            <a:off x="228600" y="13982700"/>
            <a:ext cx="2333625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7FCF0-6853-460C-BB43-A2393A61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00175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894BF-64F0-406E-84D5-3E465CCF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414462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 / 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11818-0E6E-43C8-9360-D99E70FD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43075"/>
            <a:ext cx="9334500" cy="12001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DA54E-B7DB-4994-B410-00E392E8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33575"/>
            <a:ext cx="872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La tabla aporta valores autorizados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57C01-730D-4A1F-AEBD-5FDC149D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8724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Abra la fuente que realmente va a usar. Agregue la fila en References conservando los encabezados. Una fila nueva no crea una función de chequeo.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BECFD-DB90-400D-AF1F-D5E9F08F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133725"/>
            <a:ext cx="9334500" cy="6076950"/>
          </a:xfrm>
          <a:prstGeom xmlns:a="http://schemas.openxmlformats.org/drawingml/2006/main" prst="roundRect">
            <a:avLst>
              <a:gd name="adj" fmla="val 23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A090C-BEB3-4DC7-9783-241E9E87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133725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76239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CD0C39-71F4-4AD9-A989-0E3C3F0F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0992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FFC396-493C-4C45-BCC7-731FF39C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025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LAS NUEVE COLUMNAS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514350" y="3752850"/>
          <a:ext xmlns:a="http://schemas.openxmlformats.org/drawingml/2006/main" cx="8724900" cy="5143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6200775"/>
              </a:tblGrid>
              <a:tr h="514350">
                <a:tc>
                  <a:txBody>
                    <a:bodyPr lIns="114300" tIns="76200" rIns="114300" bIns="76200"/>
                    <a:lstStyle/>
                    <a:p>
                      <a:r>
                        <a:rPr sz="1500" b="1">
                          <a:solidFill>
                            <a:srgbClr val="073C78"/>
                          </a:solidFill>
                          <a:latin typeface="Arial"/>
                          <a:ea typeface="Arial"/>
                          <a:cs typeface="Arial"/>
                        </a:rPr>
                        <a:t>Columna</a:t>
                      </a:r>
                    </a:p>
                  </a:txBody>
                  <a:tcPr marL="91440" marR="91440" marT="45720" marB="45720">
                    <a:solidFill>
                      <a:srgbClr val="DDEFFC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1">
                          <a:solidFill>
                            <a:srgbClr val="073C78"/>
                          </a:solidFill>
                          <a:latin typeface="Arial"/>
                          <a:ea typeface="Arial"/>
                          <a:cs typeface="Arial"/>
                        </a:rPr>
                        <a:t>Qué poner</a:t>
                      </a:r>
                    </a:p>
                  </a:txBody>
                  <a:tcPr marL="91440" marR="91440" marT="45720" marB="45720">
                    <a:solidFill>
                      <a:srgbClr val="DDEFFC"/>
                    </a:solidFill>
                  </a:tcPr>
                </a:tc>
              </a:tr>
              <a:tr h="514350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TYPE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Tipo de DIP: Others, Powerplant o Structures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Área correspondiente según la tabla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Capítulo 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FLEET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Flota aplicable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DESCRIPTION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Nombre preciso del componente o condición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PARENT ASSY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Ensamblaje autorizado: AIRCRAFT o ENGINE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REFERENCES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Fuente técnica aplicable: AMM, ECRA, SRM u otra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Plazo con unidad: 3 DAYS o 60 DAYS OR 500 FH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RIR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Inspección repetitiva con intervalo y unidad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5D31D-430D-4C5D-8AA2-7394811F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401175"/>
            <a:ext cx="9334500" cy="1781175"/>
          </a:xfrm>
          <a:prstGeom xmlns:a="http://schemas.openxmlformats.org/drawingml/2006/main" prst="roundRect">
            <a:avLst>
              <a:gd name="adj" fmla="val 8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12158-FCEF-440C-ACA4-61BC226B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401175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06B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7C1D63-6E7B-49BC-A067-9CF75D38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4773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38B46D-A6EA-44EF-AC02-DD1C237B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9515475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CONDICIONES Y FUENTE TÉCNICA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D24C70-EFBE-4E87-9B7E-7B63D8CF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67925"/>
            <a:ext cx="866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Conserve los criterios por flota, presión, daño o medición. Si la tabla requiere consultar un manual, revise la fuente indicada. El programa no inventa un límite.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C7965B-5266-4603-9465-4BC9F818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01350"/>
            <a:ext cx="866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Los valores de ejemplo enseñan el formato. Use los aprobados para el ítem real.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9DE09F-DF23-4975-AEEC-955663A8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1372850"/>
            <a:ext cx="9334500" cy="1323975"/>
          </a:xfrm>
          <a:prstGeom xmlns:a="http://schemas.openxmlformats.org/drawingml/2006/main" prst="roundRect">
            <a:avLst>
              <a:gd name="adj" fmla="val 10791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F27E9C-A9B1-4123-A824-452FE3B0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63350"/>
            <a:ext cx="872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Fila nueva sin catálogo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1A21F4-895C-4A1F-9F03-D2C285E7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63400"/>
            <a:ext cx="872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Puede reconocerse por su referencia técnica o las palabras de DESCRIPTION. Se informa la asociación a una fila sin catálogo. Si hay ambigüedad, puede quedar SIN FUENTE.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3F2177-2AB5-4A51-B805-8B133A7D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68275"/>
            <a:ext cx="866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Para reconocer más formas del nombre, agregue también una entrada a config/catalogo_others.yaml, como se explica en la página siguiente.</a:t>
            </a:r>
          </a:p>
        </p:txBody>
      </p:sp>
    </p:spTree>
    <p:extLst>
      <p:ext uri="{BB962C8B-B14F-4D97-AF65-F5344CB8AC3E}">
        <p14:creationId xmlns:p14="http://schemas.microsoft.com/office/powerpoint/2010/main" val="7319107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9FED1F-3EAE-4DD1-8D11-85CFA686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1562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8722AF"/>
              </a:gs>
              <a:gs pos="45000">
                <a:srgbClr val="292278"/>
              </a:gs>
              <a:gs pos="75000">
                <a:srgbClr val="003D8D"/>
              </a:gs>
              <a:gs pos="100000">
                <a:srgbClr val="087CC9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71ADC-DB21-4AD8-BB03-27A98090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C4F2F-9BDA-49A9-A819-B6AAABB0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8125"/>
            <a:ext cx="95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78AEF-BFB1-49F3-BCB3-1F12DB5A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"/>
            <a:ext cx="4076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GUÍA RÁPIDA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E63E7-FE2A-4FF3-9B47-CBFB6B43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9048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CATÁLOGO Y PROBLEMAS FRECUENTES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7743826354d00"/>
          <a:stretch xmlns:a="http://schemas.openxmlformats.org/drawingml/2006/main"/>
        </p:blipFill>
        <p:spPr>
          <a:xfrm xmlns:a="http://schemas.openxmlformats.org/drawingml/2006/main">
            <a:off x="7886700" y="583871"/>
            <a:ext cx="1666875" cy="44198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E1026-40B0-4BCB-9E88-9A6E7909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696950"/>
            <a:ext cx="9753600" cy="9334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3D8D"/>
              </a:gs>
              <a:gs pos="100000">
                <a:srgbClr val="006BBE"/>
              </a:gs>
            </a:gsLst>
            <a:lin ang="5400000"/>
          </a:gradFill>
          <a:ln xmlns:a="http://schemas.openxmlformats.org/drawingml/2006/main" w="0">
            <a:noFill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11509bec44156"/>
          <a:stretch xmlns:a="http://schemas.openxmlformats.org/drawingml/2006/main"/>
        </p:blipFill>
        <p:spPr>
          <a:xfrm xmlns:a="http://schemas.openxmlformats.org/drawingml/2006/main">
            <a:off x="228600" y="13982700"/>
            <a:ext cx="2333625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D284F-6A12-4AFF-9A29-7CE102F4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00175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B8AD7-C331-47A8-A3F7-F0D356A3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414462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 / 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E3237-A046-4A4A-A8CA-A1F199C7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43075"/>
            <a:ext cx="9334500" cy="4152900"/>
          </a:xfrm>
          <a:prstGeom xmlns:a="http://schemas.openxmlformats.org/drawingml/2006/main" prst="roundRect">
            <a:avLst>
              <a:gd name="adj" fmla="val 34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BF8EE-A5FD-4165-93DE-8AE43914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43075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76239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8E823-9AA1-49B4-A555-4D7ED990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192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0F628-C780-49D9-9D50-2D43F044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57375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RECONOCIMIENTO EN EL CATÁLOGO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39FFE8-7012-4A2D-837E-33B33163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Agregue una entrada como las vecinas en config/catalogo_others.yaml: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D5D7D-21B9-4FC1-AB9F-7A2B17E5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05150"/>
            <a:ext cx="891540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4F9FD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FF007C-88D4-4468-96F3-1EB84628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57550"/>
            <a:ext cx="8610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- id: ITEM_EJEMPLO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  nombre: "Nombre para el catálogo"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  referencias: ["DESCRIPTION exacta de la fila"]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  requiere: [[PALABRA_CLAVE], [ALTERNATIVA_1, ALTERNATIVA_2]]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  excluir: [PALABRA_DE_OTRO_ITEM]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3C1C2-52CF-4927-AE97-78546E30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3925"/>
            <a:ext cx="8667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Cada grupo de requiere exige al menos una frase. Una frase de excluir impide la coincidencia. En referencias, copie DESCRIPTION exactamente: si no existe en la tabla, la carga falla.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A8A780-7D66-4208-9E36-828C1B3A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Adapte el identificador y las palabras al componente real.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07F3B-0DC7-482C-9393-78B00722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086475"/>
            <a:ext cx="9334500" cy="2124075"/>
          </a:xfrm>
          <a:prstGeom xmlns:a="http://schemas.openxmlformats.org/drawingml/2006/main" prst="roundRect">
            <a:avLst>
              <a:gd name="adj" fmla="val 67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E52823-1C27-4C1A-9703-83A6159A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086475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06BB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62C08-8482-4258-BBA4-1C989AB7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626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1CBACF-B6A2-4577-B3CD-5E11299B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200775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COMPROBACIÓN DE LA TABLA UTILIZADA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129B29-5915-43C6-A9AD-DEC62EA3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705600"/>
            <a:ext cx="89154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4F9FD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B1C474-1DF5-4539-AB8C-F1A5A6F3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858000"/>
            <a:ext cx="861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.venv\Scripts\python -m dips_audit referencias ^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  --referencias "DIPs References.xlsx"</a:t>
            </a:r>
          </a:p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.venv\Scripts\python -m dips_audit benchmark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428C47-1FE5-432B-8263-A59D7589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81925"/>
            <a:ext cx="866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Sin --referencias, el comando referencias también intenta actualizar desde SharePoint. Indique la copia local para comprobarla expresamente.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01A7A7-EE53-4341-8F25-729FEF08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401050"/>
            <a:ext cx="9334500" cy="3648075"/>
          </a:xfrm>
          <a:prstGeom xmlns:a="http://schemas.openxmlformats.org/drawingml/2006/main" prst="roundRect">
            <a:avLst>
              <a:gd name="adj" fmla="val 39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4A4B81-901D-405C-8282-2FC7B934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401050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76239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04C1CB-0DFB-40E5-9A0F-D48B7761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477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858353-9F6D-4CDC-B609-FFDDF3B4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8515350"/>
            <a:ext cx="844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REVISAR CUANDO ALGO FALLA</a:t>
            </a:r>
          </a:p>
        </p:txBody>
      </p:sp>
      <p:graphicFrame>
        <p:nvGraphicFramePr>
          <p:cNvPr id="65" name=""/>
          <p:cNvGraphicFramePr/>
          <p:nvPr/>
        </p:nvGraphicFramePr>
        <p:xfrm>
          <a:off xmlns:a="http://schemas.openxmlformats.org/drawingml/2006/main" x="514350" y="9020175"/>
          <a:ext xmlns:a="http://schemas.openxmlformats.org/drawingml/2006/main" cx="87249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4724400"/>
              </a:tblGrid>
              <a:tr h="457200">
                <a:tc>
                  <a:txBody>
                    <a:bodyPr lIns="114300" tIns="76200" rIns="114300" bIns="76200"/>
                    <a:lstStyle/>
                    <a:p>
                      <a:r>
                        <a:rPr sz="1425" b="1">
                          <a:solidFill>
                            <a:srgbClr val="073C78"/>
                          </a:solidFill>
                          <a:latin typeface="Arial"/>
                          <a:ea typeface="Arial"/>
                          <a:cs typeface="Arial"/>
                        </a:rPr>
                        <a:t>Problema</a:t>
                      </a:r>
                    </a:p>
                  </a:txBody>
                  <a:tcPr marL="91440" marR="91440" marT="45720" marB="45720">
                    <a:solidFill>
                      <a:srgbClr val="DDEFFC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1">
                          <a:solidFill>
                            <a:srgbClr val="073C78"/>
                          </a:solidFill>
                          <a:latin typeface="Arial"/>
                          <a:ea typeface="Arial"/>
                          <a:cs typeface="Arial"/>
                        </a:rPr>
                        <a:t>Revisión</a:t>
                      </a:r>
                    </a:p>
                  </a:txBody>
                  <a:tcPr marL="91440" marR="91440" marT="45720" marB="45720">
                    <a:solidFill>
                      <a:srgbClr val="DDEFFC"/>
                    </a:solidFill>
                  </a:tcPr>
                </a:tc>
              </a:tr>
              <a:tr h="45720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Código no existe o falta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Implementación y registro en YAML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Regla no aparece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Llamada, condición, activación y filtros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Ítem sigue SIN FUENTE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Copia usada, DESCRIPTION y catálogo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Chequeo de cierre en apertura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CODIGOS_CIERRE y estados aplicables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Falló SharePoint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142D48"/>
                          </a:solidFill>
                          <a:latin typeface="Arial"/>
                          <a:ea typeface="Arial"/>
                          <a:cs typeface="Arial"/>
                        </a:rPr>
                        <a:t>Sesión, enlace y aviso de respaldo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02F536-B750-403A-97F9-BE3E383D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2239625"/>
            <a:ext cx="9334500" cy="122872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ADD0E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C7A903-9DC0-45F1-BC6F-BCE92E1D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30125"/>
            <a:ext cx="872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3C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C78"/>
                </a:solidFill>
                <a:latin typeface="Arial"/>
                <a:ea typeface="Arial"/>
                <a:cs typeface="Arial"/>
              </a:rPr>
              <a:t>Archivos de consulta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51AC1B-785C-4C8C-B370-4D38D08F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30175"/>
            <a:ext cx="872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Guía completa: docs/Guia_DIPS_reglas_referencias.md.</a:t>
            </a:r>
          </a:p>
          <a:p xmlns:a="http://schemas.openxmlformats.org/drawingml/2006/main">
            <a:pPr>
              <a:defRPr sz="1500" b="0">
                <a:solidFill>
                  <a:srgbClr val="142D4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8"/>
                </a:solidFill>
                <a:latin typeface="Arial"/>
                <a:ea typeface="Arial"/>
                <a:cs typeface="Arial"/>
              </a:rPr>
              <a:t>Detalle de la lógica: docs/tecnico.md. Ejemplos: docs/ejemplos/.</a:t>
            </a:r>
          </a:p>
        </p:txBody>
      </p:sp>
    </p:spTree>
    <p:extLst>
      <p:ext uri="{BB962C8B-B14F-4D97-AF65-F5344CB8AC3E}">
        <p14:creationId xmlns:p14="http://schemas.microsoft.com/office/powerpoint/2010/main" val="8513038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2026-10-05T17:44:28.1000000Z</dcterms:created>
  <dcterms:modified xsi:type="dcterms:W3CDTF">2026-10-05T17:44:28.1000000Z</dcterms:modified>
</coreProperties>
</file>