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fa91e71eb43e4572" /><Relationship Type="http://schemas.openxmlformats.org/officeDocument/2006/relationships/extended-properties" Target="/docProps/app.xml" Id="R0b3e0819e5d54313" /><Relationship Type="http://schemas.openxmlformats.org/officeDocument/2006/relationships/officeDocument" Target="/ppt/presentation.xml" Id="Rceaebe7d93cc4cb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bd2c35509bc94b0d"/>
  </p:sldMasterIdLst>
  <p:notesMasterIdLst>
    <p:notesMasterId xmlns:r="http://schemas.openxmlformats.org/officeDocument/2006/relationships" r:id="R503f637e2ac546db"/>
  </p:notesMasterIdLst>
  <p:sldIdLst>
    <p:sldId xmlns:r="http://schemas.openxmlformats.org/officeDocument/2006/relationships" id="256" r:id="R43dd966f956a45f8"/>
    <p:sldId xmlns:r="http://schemas.openxmlformats.org/officeDocument/2006/relationships" id="257" r:id="Rc645a83bfb8d4ca4"/>
    <p:sldId xmlns:r="http://schemas.openxmlformats.org/officeDocument/2006/relationships" id="258" r:id="R3a549ab2c7ac458f"/>
    <p:sldId xmlns:r="http://schemas.openxmlformats.org/officeDocument/2006/relationships" id="259" r:id="Re19ad5fd852a4918"/>
  </p:sldIdLst>
  <p:sldSz cx="9753600" cy="146304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4ea42f1f75c4919" /><Relationship Type="http://schemas.openxmlformats.org/officeDocument/2006/relationships/slideMaster" Target="/ppt/slideMasters/slideMaster1.xml" Id="Rbd2c35509bc94b0d" /><Relationship Type="http://schemas.openxmlformats.org/officeDocument/2006/relationships/notesMaster" Target="/ppt/notesMasters/notesMaster1.xml" Id="R503f637e2ac546db" /><Relationship Type="http://schemas.openxmlformats.org/officeDocument/2006/relationships/presProps" Target="/ppt/presProps.xml" Id="R38a054afe9cf4d1a" /><Relationship Type="http://schemas.openxmlformats.org/officeDocument/2006/relationships/tableStyles" Target="/ppt/tableStyles.xml" Id="Rbce81cf6b2da40f3" /><Relationship Type="http://schemas.openxmlformats.org/officeDocument/2006/relationships/slide" Target="/ppt/slides/slide1.xml" Id="R43dd966f956a45f8" /><Relationship Type="http://schemas.openxmlformats.org/officeDocument/2006/relationships/slide" Target="/ppt/slides/slide2.xml" Id="Rc645a83bfb8d4ca4" /><Relationship Type="http://schemas.openxmlformats.org/officeDocument/2006/relationships/slide" Target="/ppt/slides/slide3.xml" Id="R3a549ab2c7ac458f" /><Relationship Type="http://schemas.openxmlformats.org/officeDocument/2006/relationships/slide" Target="/ppt/slides/slide4.xml" Id="Re19ad5fd852a491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98064a45df214b1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9406dd934904e53" /><Relationship Type="http://schemas.openxmlformats.org/officeDocument/2006/relationships/notesMaster" Target="/ppt/notesMasters/notesMaster1.xml" Id="Raa9439c97af5426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0fd2f6c290d4d92" /><Relationship Type="http://schemas.openxmlformats.org/officeDocument/2006/relationships/notesMaster" Target="/ppt/notesMasters/notesMaster1.xml" Id="R6ed8e95d202b44b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cb329eaceeb4e85" /><Relationship Type="http://schemas.openxmlformats.org/officeDocument/2006/relationships/notesMaster" Target="/ppt/notesMasters/notesMaster1.xml" Id="R884410aae833488a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380be037e7241b2" /><Relationship Type="http://schemas.openxmlformats.org/officeDocument/2006/relationships/notesMaster" Target="/ppt/notesMasters/notesMaster1.xml" Id="Re0dd359e790441d2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auditar.bat, filtrar.bat, comparar.bat, dips_audit/__main__.py.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dips_audit/reporte.py (colores del Excel), dips_audit/reglas.py (prioridad), dips_audit/auditor.py (apertura y cierre).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config/config.yaml, dips_audit/referencias.py, dips_audit/fuente_referencias.py.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Fuentes locales: config/discrepancias.yaml, dips_audit/discrepancias.py.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b75eed7df004787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8f975cb1f0943e4" /><Relationship Type="http://schemas.openxmlformats.org/officeDocument/2006/relationships/slideLayout" Target="/ppt/slideLayouts/slideLayout1.xml" Id="Ra9bd339915cf4a2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9bd339915cf4a2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188cda78f54342" /><Relationship Type="http://schemas.openxmlformats.org/officeDocument/2006/relationships/image" Target="/ppt/media/image.png" Id="R79d839684be24869" /><Relationship Type="http://schemas.openxmlformats.org/officeDocument/2006/relationships/image" Target="/ppt/media/image2.png" Id="R64cdc672e1d54fec" /><Relationship Type="http://schemas.openxmlformats.org/officeDocument/2006/relationships/notesSlide" Target="/ppt/notesSlides/notesSlide1.xml" Id="R3b7ac3f00cf64ec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2b1cd458c94635" /><Relationship Type="http://schemas.openxmlformats.org/officeDocument/2006/relationships/image" Target="/ppt/media/image3.png" Id="R81fcecc80e92415e" /><Relationship Type="http://schemas.openxmlformats.org/officeDocument/2006/relationships/image" Target="/ppt/media/image4.png" Id="Ra3fe612d01c24f3b" /><Relationship Type="http://schemas.openxmlformats.org/officeDocument/2006/relationships/notesSlide" Target="/ppt/notesSlides/notesSlide2.xml" Id="R3fd7f18339f4483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ddfd3e95c6a4588" /><Relationship Type="http://schemas.openxmlformats.org/officeDocument/2006/relationships/image" Target="/ppt/media/image3.png" Id="Rab93e269d0de4aa9" /><Relationship Type="http://schemas.openxmlformats.org/officeDocument/2006/relationships/image" Target="/ppt/media/image4.png" Id="R662d74af7f0a4385" /><Relationship Type="http://schemas.openxmlformats.org/officeDocument/2006/relationships/hyperlink" Target="https://copaairlines.sharepoint.com/:x:/r/teams/VP_Tecnica/dacre/records/_layouts/15/doc2.aspx?sourcedoc=%7B71427FA7-2DB0-4851-A5BA-63F30401684E%7D&amp;file=DIPs%20References.xlsx&amp;action=default&amp;mobileredirect=true" TargetMode="External" Id="Rb8a57cb2dd3745f6" /><Relationship Type="http://schemas.openxmlformats.org/officeDocument/2006/relationships/notesSlide" Target="/ppt/notesSlides/notesSlide3.xml" Id="R38b4beeef0a14c76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68cbecafc554e08" /><Relationship Type="http://schemas.openxmlformats.org/officeDocument/2006/relationships/image" Target="/ppt/media/image5.png" Id="R87776d54cbf346d6" /><Relationship Type="http://schemas.openxmlformats.org/officeDocument/2006/relationships/image" Target="/ppt/media/image6.png" Id="R939f1842a46c48af" /><Relationship Type="http://schemas.openxmlformats.org/officeDocument/2006/relationships/notesSlide" Target="/ppt/notesSlides/notesSlide4.xml" Id="R62d5a84d6ab340a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BFF2F0F8-8344-452E-A759-16A3667843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92BE106-8AD0-4A35-8FC0-D00D0B0FD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9229787-FF74-46BF-B7F1-2A53960C8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FBE60D1-A261-4664-854B-7D954D0E3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E0F789-D394-4A04-AC07-C0BE9DC039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USO DEL PROGRAMA</a:t>
            </a:r>
          </a:p>
        </p:txBody>
      </p:sp>
      <p:pic>
        <p:nvPicPr>
          <p:cNvPr id="6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d839684be24869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DEF34F-8C43-41EF-8384-0EC5BF69D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6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4cdc672e1d54fec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6380BE5-8A58-4426-8962-125FE2A72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677939B-2FDB-4F30-9C19-8D440827F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39CACB-AB02-4050-9B2B-66D06EF04D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una terminal (CMD o PowerShell) en la carpeta DIPS.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029D9D-725F-429E-A33A-2CC886E6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esta guía,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$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indica un comando y se omite al escribirlo.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65040E-E27E-4D6A-8C20-1B154AA7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entrada.xlsx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el nombre o la ruta de su archivo.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9845543-D062-4A6A-9511-AA8E0C87F0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305050"/>
          </a:xfrm>
          <a:prstGeom xmlns:a="http://schemas.openxmlformats.org/drawingml/2006/main" prst="roundRect">
            <a:avLst>
              <a:gd name="adj" fmla="val 57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E9238D4-5219-4067-A628-69FAF7EBE3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2CF061-179D-4724-8894-28B23CD5D8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7EF477-7EB8-410A-B750-C8E27EC30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INSTALACIÓN Y AUDITORÍA CON EXCEL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3B996E2-7B09-4772-8C99-D9D5E8BFB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Primera instalación: ejecute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.\setup.bat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una vez.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447A6D0-936C-4751-BE7D-C22310508C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733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Después audite el Excel con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.\auditar.bat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o arrástrelo sobre ese archivo.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A40A9C-90B0-414A-9343-5C4F69339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114800"/>
            <a:ext cx="8686800" cy="85725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2B229DF-992A-412E-BAA6-D06300245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2100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D0AFA40-858C-4377-BD27-3F6DDB1E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38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.\setup.bat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78B8CB3-1BA1-4B86-B701-8674A9624C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482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5C80422-6612-4407-AE7A-C0D4CDF73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31F4924-7910-435D-A113-C69E3E5C8E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3911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BD990DC-6990-4881-8474-803EE31217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4864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5E5B093-AD59-4417-94F0-035D27626E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5149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ICAM Y PENDIENTES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7155B97-C986-445C-BB46-0DEEB089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0388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B0C92E-9165-47BC-ABC0-69680BD48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1341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2FADFE3-73F7-4EB5-834B-649F3322B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3627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"entrada.xlsx" --icam --pendientes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EBF5970-A726-4A87-BAE9-4D9293CC9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838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--icam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consulta ICAM. Inicie sesión si Edge la pide.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1AE29782-F9A5-4AEE-B6EB-12FE4CD1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2199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--pendientes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deja ACTV sin DIP Open Audit User y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6DDA3BB-8A79-4F69-98F3-A0C58A83E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448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sin DIP Closed Audit User. Quite la opción para auditar todos.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8F396D7-4C97-4ED3-84B4-C8A2A981F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77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Crea una copia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FILTERED.xlsx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junto al archivo original.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6A1E759-9EF4-4BAC-834B-0BCD475D2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7048897-F14B-4BBF-B069-299AA93F3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3248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915FD33-7E83-47B2-A0C6-67B1A1D8CA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4201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D1147BB-F3B0-4D7E-AD1B-8F511FE6C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4486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CONSULTA POR BARCODE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023071D4-9D2E-43F6-B875-0527A1124B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9725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Consulte un DIP en ICAM sin cargar un Excel.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E05FCB9-A5C8-4003-BA58-1231D33D9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2011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Sustituya el barcode de ejemplo por el barcode real.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741B29F-AE21-4034-82C6-D5B6AAD54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958215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A109FB56-A320-4FFC-B8BF-B29A2C5DA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67740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Terminal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54D23A8A-FB69-4ECC-8886-2F065FFE5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9906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$ .\auditar.bat T40S0099V9C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DC696CE1-E525-4E55-ABAF-68B61D364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382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muestra los datos, el resultado y los hallazgos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A8BDCFA-C739-4A74-BC77-B7647FB3B2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6108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la terminal. Esta consulta no genera un Excel de resultado.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35579B-BA03-4962-8DBA-D6C26DFDA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258550"/>
            <a:ext cx="9144000" cy="16859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F3D96DF-171C-45C9-9518-B92B39FD9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44905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Resultado: carpeta </a:t>
            </a:r>
            <a:r>
              <a:rPr sz="16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salida/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2E24A36-C1BA-4F81-AF1B-1A7379CB71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8395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Revise RESULTADO, HALLAZGOS y VERIFICACIÓN MANUAL.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0149B9E-BCD0-45BB-BD56-B7DECE9FCB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681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página siguiente explica los seis resultados y sus colores.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4765F617-971B-45E8-9440-8F4761445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9677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Complete las verificaciones manuales indicadas en cada DIP.</a:t>
            </a:r>
          </a:p>
        </p:txBody>
      </p:sp>
    </p:spTree>
    <p:extLst>
      <p:ext uri="{BB962C8B-B14F-4D97-AF65-F5344CB8AC3E}">
        <p14:creationId xmlns:p14="http://schemas.microsoft.com/office/powerpoint/2010/main" val="458506376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RESULTADOS Y COLORES</a:t>
            </a:r>
          </a:p>
        </p:txBody>
      </p:sp>
      <p:pic>
        <p:nvPicPr>
          <p:cNvPr id="5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1fcecc80e92415e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3fe612d01c24f3b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2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CB0E82F-4000-4217-BDF6-B2598DC20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columna RESULTADO usa estos colores en el Excel de salida.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C8D54DA-9B68-4505-9A50-41ABEC19C8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resultado indica qué revisar. Lea también HALLAZGOS y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AA599E3-7713-40B7-9AAF-D272C33B7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VERIFICACIÓN MANUAL para conocer la evidencia y los pasos pendientes.</a:t>
            </a:r>
          </a:p>
        </p:txBody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533400" y="2857500"/>
          <a:ext xmlns:a="http://schemas.openxmlformats.org/drawingml/2006/main" cx="8686800" cy="9029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686800"/>
              </a:tblGrid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1. POSIBLE DISCREPANCIA (naranja)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detectó una posible discrepancia. Revise el hallazgo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y su evidencia antes de registrar la auditoría.</a:t>
                      </a:r>
                    </a:p>
                  </a:txBody>
                  <a:tcPr marL="91440" marR="91440" marT="45720" marB="45720">
                    <a:solidFill>
                      <a:srgbClr val="FCE3B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2. CORREGIDO EN CIERRE (turquesa)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DIP COMPLETE: la apertura tuvo una posible discrepancia y el cierre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quedó OK. Revise ambos estados y complete la verificación manual.</a:t>
                      </a:r>
                    </a:p>
                  </a:txBody>
                  <a:tcPr marL="91440" marR="91440" marT="45720" marB="45720">
                    <a:solidFill>
                      <a:srgbClr val="CCEDE8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3. REVISAR (amarillo)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TA o el RIR depende del daño, de una condición o del manual.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Consulte la fuente técnica para definir el límite aplicable.</a:t>
                      </a:r>
                    </a:p>
                  </a:txBody>
                  <a:tcPr marL="91440" marR="91440" marT="45720" marB="45720">
                    <a:solidFill>
                      <a:srgbClr val="FFF59D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4. SIN FUENTE EN DIPS REFERENCES (azul)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DIP no tiene una referencia asociada en el Excel de referencias.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Compruebe la fuente y complete los datos aprobados de la tabla.</a:t>
                      </a:r>
                    </a:p>
                  </a:txBody>
                  <a:tcPr marL="91440" marR="91440" marT="45720" marB="45720">
                    <a:solidFill>
                      <a:srgbClr val="D6E4F0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5. OK (verde)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La auditoría automática no detectó una posible discrepancia.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Complete los puntos pendientes en VERIFICACIÓN MANUAL.</a:t>
                      </a:r>
                    </a:p>
                  </a:txBody>
                  <a:tcPr marL="91440" marR="91440" marT="45720" marB="45720">
                    <a:solidFill>
                      <a:srgbClr val="C9E7C9"/>
                    </a:solidFill>
                  </a:tcPr>
                </a:tc>
              </a:tr>
              <a:tr h="1504950">
                <a:tc>
                  <a:txBody>
                    <a:bodyPr lIns="228600" tIns="209550" rIns="228600" bIns="171450"/>
                    <a:lstStyle/>
                    <a:p>
                      <a:pPr>
                        <a:spcBef>
                          <a:spcPts val="0"/>
                        </a:spcBef>
                        <a:spcAft>
                          <a:spcPts val="1000"/>
                        </a:spcAft>
                      </a:pPr>
                      <a:r>
                        <a:rPr sz="1650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6. FUERA DE ALCANCE (gris)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tipo de DIP quedó fuera de los tipos elegidos para auditar.</a:t>
                      </a:r>
                    </a:p>
                    <a:p>
                      <a:pPr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50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El programa no evaluó ese DIP en esta ejecución.</a:t>
                      </a:r>
                    </a:p>
                  </a:txBody>
                  <a:tcPr marL="91440" marR="91440" marT="45720" marB="45720">
                    <a:solidFill>
                      <a:srgbClr val="E4E4E4"/>
                    </a:solidFill>
                  </a:tcPr>
                </a:tc>
              </a:tr>
            </a:tbl>
          </a:graphicData>
        </a:graphic>
      </p:graphicFrame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178EC0C-A565-45A3-BA48-C47AD7936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192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cada etapa prevalece POSIBLE DISCREPANCIA, luego REVISAR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6642307-611E-46E0-89D5-610A1FE07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20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después SIN FUENTE EN DIPS REFERENCES. Los demás hallazgos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04C217F4-45DD-4128-A033-A5A19CD46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49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siguen visibles. CORREGIDO EN CIERRE se calcula al comparar las etapas.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6D9253AA-8B26-489D-A3C8-4B13BDFE30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A11C36-C722-40B0-9459-ADD6C8434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CF1E3BD-D43F-4A74-B481-1B6F6A313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E53601-3BC3-41D5-B6F8-76C91682F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32472A-27E2-4C3D-ADED-41A32F31D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REFERENCIAS DEL EXCEL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b93e269d0de4aa9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ABF6DB-D2D1-4962-8067-BA975E970D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7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2d74af7f0a4385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A3DED55-6C39-4758-A368-CC89308F06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A9AE4EC-A1F7-4595-8DE5-69FA91330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3 / 4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DE22F829-6F84-45C1-99CB-D41DD153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programa usa DIPs References.xlsx como tabla de referencias.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93EC4D27-AF33-4770-AF18-73607D3103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Cada fila describe una referencia. Para cada DIP busca la fila aplicable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1EDBE3C-9D23-43A2-99A5-8413AB2703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3241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y compara sus datos con el TA, el RIR y la fuente técnica de esa fila.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EB4138DF-2E9F-40BC-9958-8913DEE0C6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2438400"/>
          </a:xfrm>
          <a:prstGeom xmlns:a="http://schemas.openxmlformats.org/drawingml/2006/main" prst="roundRect">
            <a:avLst>
              <a:gd name="adj" fmla="val 546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42C1EE58-AF21-4B63-A236-F615F8A6F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857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B102FB71-8573-43E1-9DA9-A914947FE2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952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B9E4D73-3CBB-43C1-A469-316D429187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981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ARCHIVO DE REFERENCIAS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81BAA40-6772-4104-89AA-318FF9F52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505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Archivo local: DIPs References.xlsx. Hoja: References.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01540C02-D34F-4102-A9F9-DABF5E381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886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06BBE"/>
                </a:solidFill>
                <a:latin typeface="Arial"/>
                <a:ea typeface="Arial"/>
                <a:cs typeface="Arial"/>
                <a:hlinkClick xmlns:r="http://schemas.openxmlformats.org/officeDocument/2006/relationships" r:id="Rb8a57cb2dd3745f6"/>
              </a:rPr>
              <a:t>Abrir DIPs References.xlsx en SharePoint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DD5A3583-7087-46C0-B502-5D24C778DF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2672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En config/config.yaml: referencias indica el archivo local,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A8A2E5BD-5632-4364-9EC1-552A00FF0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4958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hoja_referencias la hoja y referencias_sharepoint el enlace.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49FBC2A-02DC-4545-942F-0DAD63415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4724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cada fila con valores aprobados y conserve los encabezados.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844BE6A-8B8B-421A-8B19-D20DA741A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5810250"/>
          </a:xfrm>
          <a:prstGeom xmlns:a="http://schemas.openxmlformats.org/drawingml/2006/main" prst="roundRect">
            <a:avLst>
              <a:gd name="adj" fmla="val 229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74AF7648-9CC2-412C-AB20-04D1D8DD0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245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189F6BC5-5ECA-496A-9646-0F375478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197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7E666C7-2864-43A7-9DC4-3FDA2CE03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483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CAMPOS DE CADA REFERENCIA</a:t>
            </a:r>
          </a:p>
        </p:txBody>
      </p:sp>
      <p:graphicFrame>
        <p:nvGraphicFramePr>
          <p:cNvPr id="96" name=""/>
          <p:cNvGraphicFramePr/>
          <p:nvPr/>
        </p:nvGraphicFramePr>
        <p:xfrm>
          <a:off xmlns:a="http://schemas.openxmlformats.org/drawingml/2006/main" x="533400" y="6172200"/>
          <a:ext xmlns:a="http://schemas.openxmlformats.org/drawingml/2006/main" cx="8686800" cy="4572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6686550"/>
              </a:tblGrid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Campo del Excel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Contenido de la referencia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TYPE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Tipo de referencia o de DIP.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AREA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Área a la que pertenece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ATA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Capítulo ATA del sistema o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FLEET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Flota o modelo al que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DESCRIPTION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Descripción para identificar la condición o el componente.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PARENT ASSY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Conjunto al que se asocia el DIP, como AIRCRAFT o ENGINE.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Manual o documento técnico que respalda la referencia.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TA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Plazo o límite permitido para corregir la condición.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lIns="114300" tIns="114300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RIR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14300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Intervalo de la inspección repetitiva, cuando aplica.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CC0A3709-2701-40F6-B9FD-B8B8E799D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09347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TA y RIR incluyen valor y unidad, por ejemplo: 30 DAYS, 100 FH o 50 FC.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D023C08F-7AC7-4615-BF16-9F30D7F1C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1828800"/>
          </a:xfrm>
          <a:prstGeom xmlns:a="http://schemas.openxmlformats.org/drawingml/2006/main" prst="roundRect">
            <a:avLst>
              <a:gd name="adj" fmla="val 7292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A1492DA8-6F47-4B8B-A48E-12C1E23C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56335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D7B3B16-96E5-4752-B897-E9B13DA1B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65860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76BB21E-7FBD-48B4-8A6C-3BF98E582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168717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COPIA QUE UTILIZA EL PROGRAMA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2EA7077C-DD2D-48FA-9316-DDE11B9F2F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2110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Intenta actualizar desde SharePoint. Si falla, usa la última copia válida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8EFF8653-8262-4DB6-9151-2C2A7B91C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4396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descargada o el archivo local inicial. Inicie sesión en Edge si la pide.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9412D396-C15C-4C14-983D-EF962FB614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6825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terminal indica la copia y su fecha. Sin una copia válida, se detiene.</a:t>
            </a:r>
          </a:p>
        </p:txBody>
      </p:sp>
    </p:spTree>
    <p:extLst>
      <p:ext uri="{BB962C8B-B14F-4D97-AF65-F5344CB8AC3E}">
        <p14:creationId xmlns:p14="http://schemas.microsoft.com/office/powerpoint/2010/main" val="143348488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4F9FD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2D39CFF-7B1C-4597-9CD3-13E1CB155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9753600" cy="156210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8722AF"/>
              </a:gs>
              <a:gs pos="45000">
                <a:srgbClr val="292278"/>
              </a:gs>
              <a:gs pos="75000">
                <a:srgbClr val="003D8D"/>
              </a:gs>
              <a:gs pos="100000">
                <a:srgbClr val="087CC9"/>
              </a:gs>
            </a:gsLst>
            <a:lin ang="0"/>
          </a:gradFill>
          <a:ln xmlns:a="http://schemas.openxmlformats.org/drawingml/2006/main" w="0">
            <a:noFill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67726E5-319B-4885-A80B-F9A97A8B0B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" y="514350"/>
            <a:ext cx="22860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4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88B8E23-CA1F-4EAE-8381-B85017BFB0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67050" y="238125"/>
            <a:ext cx="952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3DE3794-3139-46DF-8FFD-4CB53F908E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57175"/>
            <a:ext cx="40767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3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GUÍA RÁPIDA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719B84-EB48-4195-B6E6-679E3A926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09950" y="904875"/>
            <a:ext cx="4095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YAML DE DISCREPANCIAS</a:t>
            </a:r>
          </a:p>
        </p:txBody>
      </p:sp>
      <p:pic>
        <p:nvPicPr>
          <p:cNvPr id="5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776d54cbf346d6"/>
          <a:stretch xmlns:a="http://schemas.openxmlformats.org/drawingml/2006/main"/>
        </p:blipFill>
        <p:spPr>
          <a:xfrm xmlns:a="http://schemas.openxmlformats.org/drawingml/2006/main">
            <a:off x="7886700" y="583871"/>
            <a:ext cx="1666875" cy="441982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41244C-2DF0-4361-A191-0BF4F805E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3696950"/>
            <a:ext cx="9753600" cy="933450"/>
          </a:xfrm>
          <a:prstGeom xmlns:a="http://schemas.openxmlformats.org/drawingml/2006/main" prst="rect">
            <a:avLst/>
          </a:prstGeom>
          <a:gradFill xmlns:a="http://schemas.openxmlformats.org/drawingml/2006/main">
            <a:gsLst>
              <a:gs pos="0">
                <a:srgbClr val="003D8D"/>
              </a:gs>
              <a:gs pos="100000">
                <a:srgbClr val="006BBE"/>
              </a:gs>
            </a:gsLst>
            <a:lin ang="5400000"/>
          </a:gradFill>
          <a:ln xmlns:a="http://schemas.openxmlformats.org/drawingml/2006/main" w="0">
            <a:noFill/>
          </a:ln>
        </p:spPr>
      </p:sp>
      <p:pic>
        <p:nvPicPr>
          <p:cNvPr id="5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9f1842a46c48af"/>
          <a:stretch xmlns:a="http://schemas.openxmlformats.org/drawingml/2006/main"/>
        </p:blipFill>
        <p:spPr>
          <a:xfrm xmlns:a="http://schemas.openxmlformats.org/drawingml/2006/main">
            <a:off x="228600" y="13982700"/>
            <a:ext cx="2333625" cy="40005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AD527D-3D95-41E4-9CF0-40A79EF7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24175" y="14001750"/>
            <a:ext cx="33337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2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DIPS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7C263DD-7493-462B-AD9D-C1639BB5D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14144625"/>
            <a:ext cx="6858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5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4 / 4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6D2934E-CF3C-4F20-B313-05144196F8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8669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Abra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, cambie la regla y guarde.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4E14BA7-CF7E-412D-A1D6-1D21EC3FC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0955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La siguiente auditoría valida el YAML. Conserve la sangría con espacios.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023E71B-E5BE-49A5-B153-0495E4C0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2705100"/>
          </a:xfrm>
          <a:prstGeom xmlns:a="http://schemas.openxmlformats.org/drawingml/2006/main" prst="roundRect">
            <a:avLst>
              <a:gd name="adj" fmla="val 493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87C7881-9D3F-4BB7-8716-79D3145D0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26289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D33C60-17FD-47FA-9560-CE1AC1B8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7241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F7636DE-0988-49F2-81DC-EF0537458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27527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SEVERIDAD DE UNA REGLA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33645C-803A-4EFE-86AD-9B6E36A92D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2766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Ejemplo de un bloque existente: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2B6075C-F610-42F6-B13C-9030592E6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3657600"/>
            <a:ext cx="8686800" cy="1485900"/>
          </a:xfrm>
          <a:prstGeom xmlns:a="http://schemas.openxmlformats.org/drawingml/2006/main" prst="roundRect">
            <a:avLst>
              <a:gd name="adj" fmla="val 3846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5E869CE-78F6-41B5-8777-7C7B884AE3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528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D96FED-4817-44F4-8107-DB4B3C6D0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9814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tipos: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21441CE-9FED-405B-997F-2FFE8D7C2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1910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Incorrect DIP Interval: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D0BB699-DAE1-4200-968A-CF8CAE2AA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4005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reglas: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7C1B7E7-4894-4C99-9B38-F26542D52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61010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intervalo_excedido: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2BA99C6-E7DD-48DB-8758-EC384DD28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8196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      intervalo_menor: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OK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788FE10-1E56-4804-90B0-4FBE0048FE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2476500"/>
          </a:xfrm>
          <a:prstGeom xmlns:a="http://schemas.openxmlformats.org/drawingml/2006/main" prst="roundRect">
            <a:avLst>
              <a:gd name="adj" fmla="val 53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ED834A7-78A3-43EF-A8FC-1DF309A06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55626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76239F"/>
          </a:solidFill>
          <a:ln xmlns:a="http://schemas.openxmlformats.org/drawingml/2006/main" w="0">
            <a:noFill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B14DDD2-85A7-43B4-85F0-50913AE33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56578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89A9C03-353F-4F09-B320-73E654F59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56864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DESACTIVAR Y REACTIVAR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A9EA73E-719A-46A5-84E3-2A6251AD4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210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Para desactivar una regla, sustituya su línea por: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8E4FE49-792B-4B3D-8BF0-898F052F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6591300"/>
            <a:ext cx="8686800" cy="647700"/>
          </a:xfrm>
          <a:prstGeom xmlns:a="http://schemas.openxmlformats.org/drawingml/2006/main" prst="roundRect">
            <a:avLst>
              <a:gd name="adj" fmla="val 8824"/>
            </a:avLst>
          </a:prstGeom>
          <a:solidFill xmlns:a="http://schemas.openxmlformats.org/drawingml/2006/main">
            <a:srgbClr val="F4F9FD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F9DECB5-58C0-44CC-9227-AE3F21034C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686550"/>
            <a:ext cx="83439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125" b="1">
                <a:solidFill>
                  <a:srgbClr val="006BBE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006BBE"/>
                </a:solidFill>
                <a:latin typeface="Arial"/>
                <a:ea typeface="Arial"/>
                <a:cs typeface="Arial"/>
              </a:rPr>
              <a:t>YAML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A74D1F7-FE5C-47B8-89A7-757D217E66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6915150"/>
            <a:ext cx="834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350" b="0">
                <a:solidFill>
                  <a:srgbClr val="142D48"/>
                </a:solidFill>
                <a:latin typeface="Consolas"/>
                <a:ea typeface="Consolas"/>
                <a:cs typeface="Consolas"/>
              </a:defRPr>
            </a:pP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intervalo_excedido: {activa: false, severidad: 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POSIBLE DISCREPANCIA</a:t>
            </a:r>
            <a:r>
              <a:rPr sz="1350" b="0">
                <a:solidFill>
                  <a:srgbClr val="142D48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D68ABA4-B2FE-4992-84CC-B28D934D5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3914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Reactivar: cambie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por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true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 Para todo un tipo, ponga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A05F0D9-92A6-4CBF-B945-ACAFC05DB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76200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activo: false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a la altura de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reglas: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.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1788D1D6-2EE2-46C8-B034-59CCE9E4E4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3314700"/>
          </a:xfrm>
          <a:prstGeom xmlns:a="http://schemas.openxmlformats.org/drawingml/2006/main" prst="roundRect">
            <a:avLst>
              <a:gd name="adj" fmla="val 402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CDE0965-EA19-4016-AD32-A9D66E093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8267700"/>
            <a:ext cx="9144000" cy="457200"/>
          </a:xfrm>
          <a:prstGeom xmlns:a="http://schemas.openxmlformats.org/drawingml/2006/main" prst="roundRect">
            <a:avLst>
              <a:gd name="adj" fmla="val 29167"/>
            </a:avLst>
          </a:prstGeom>
          <a:solidFill xmlns:a="http://schemas.openxmlformats.org/drawingml/2006/main">
            <a:srgbClr val="006BBE"/>
          </a:solidFill>
          <a:ln xmlns:a="http://schemas.openxmlformats.org/drawingml/2006/main" w="0">
            <a:noFill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8B6F440-527A-4615-8566-4E6EDB3019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8362950"/>
            <a:ext cx="323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20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560161B-305E-467D-8405-E6859D4D3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8391525"/>
            <a:ext cx="82867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VALORES DISPONIBLES</a:t>
            </a:r>
          </a:p>
        </p:txBody>
      </p:sp>
      <p:graphicFrame>
        <p:nvGraphicFramePr>
          <p:cNvPr id="89" name=""/>
          <p:cNvGraphicFramePr/>
          <p:nvPr/>
        </p:nvGraphicFramePr>
        <p:xfrm>
          <a:off xmlns:a="http://schemas.openxmlformats.org/drawingml/2006/main" x="533400" y="8915400"/>
          <a:ext xmlns:a="http://schemas.openxmlformats.org/drawingml/2006/main" cx="8686800" cy="20955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381500"/>
                <a:gridCol w="4305300"/>
              </a:tblGrid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Valor en YAML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1">
                          <a:solidFill>
                            <a:srgbClr val="073C78"/>
                          </a:solidFill>
                          <a:latin typeface="Arial"/>
                          <a:ea typeface="Arial"/>
                          <a:cs typeface="Arial"/>
                        </a:rPr>
                        <a:t>Efecto en el resultado</a:t>
                      </a:r>
                    </a:p>
                  </a:txBody>
                  <a:tcPr marL="91440" marR="91440" marT="45720" marB="45720">
                    <a:solidFill>
                      <a:srgbClr val="DDEFFC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POSIBLE DISCREPANCIA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REVISAR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SIN FUENTE EN DIPS REFERENCES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9100">
                <a:tc>
                  <a:txBody>
                    <a:bodyPr lIns="114300" tIns="104775" rIns="114300" bIns="95250"/>
                    <a:lstStyle/>
                    <a:p>
                      <a:r>
                        <a:rPr sz="1350" b="0">
                          <a:solidFill>
                            <a:srgbClr val="142D48"/>
                          </a:solidFill>
                          <a:latin typeface="Consolas"/>
                          <a:ea typeface="Consolas"/>
                          <a:cs typeface="Consolas"/>
                        </a:rPr>
                        <a:t>OK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 lIns="114300" tIns="104775" rIns="114300" bIns="95250"/>
                    <a:lstStyle/>
                    <a:p>
                      <a:r>
                        <a:rPr sz="1425" b="0">
                          <a:solidFill>
                            <a:srgbClr val="142D48"/>
                          </a:solidFill>
                          <a:latin typeface="Arial"/>
                          <a:ea typeface="Arial"/>
                          <a:cs typeface="Arial"/>
                        </a:rPr>
                        <a:t>OK si no hay otros hallazgos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87781D5-10D8-4F41-9AC0-274A484C1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11811000"/>
            <a:ext cx="9144000" cy="1457325"/>
          </a:xfrm>
          <a:prstGeom xmlns:a="http://schemas.openxmlformats.org/drawingml/2006/main" prst="roundRect">
            <a:avLst>
              <a:gd name="adj" fmla="val 9150"/>
            </a:avLst>
          </a:prstGeom>
          <a:solidFill xmlns:a="http://schemas.openxmlformats.org/drawingml/2006/main">
            <a:srgbClr val="DDEFFC"/>
          </a:solidFill>
          <a:ln xmlns:a="http://schemas.openxmlformats.org/drawingml/2006/main" w="9525">
            <a:solidFill>
              <a:srgbClr val="ADD0E8"/>
            </a:solidFill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457297C-EBE3-48A1-83E4-DE4A929CD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001500"/>
            <a:ext cx="86868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8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Configuración desde el YAML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0E48DCF-525C-48F4-AAA2-919A9FEDB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3920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El YAML configura qué chequeos disponibles se informan y su severidad.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2907284-B347-40B8-808B-82758E33D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6206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Edite </a:t>
            </a:r>
            <a:r>
              <a:rPr sz="1350" b="0">
                <a:solidFill>
                  <a:srgbClr val="073C78"/>
                </a:solidFill>
                <a:latin typeface="Consolas"/>
                <a:ea typeface="Consolas"/>
                <a:cs typeface="Consolas"/>
              </a:rPr>
              <a:t>config/discrepancias.yaml</a:t>
            </a: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 y guarde.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2A2339D-BF86-4CD7-85EE-15655ECDD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2849225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spcBef>
                <a:spcPts val="0"/>
              </a:spcBef>
              <a:spcAft>
                <a:spcPts val="0"/>
              </a:spcAft>
              <a:buNone/>
              <a:defRPr sz="1500" b="0">
                <a:solidFill>
                  <a:srgbClr val="142D48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42D48"/>
                </a:solidFill>
                <a:latin typeface="Arial"/>
                <a:ea typeface="Arial"/>
                <a:cs typeface="Arial"/>
              </a:rPr>
              <a:t>CORREGIDO EN CIERRE se calcula; no se asigna a una regla.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176B65E2-72F6-4182-9BBA-C4703D446F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1163300"/>
            <a:ext cx="8686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non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73C78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073C78"/>
                </a:solidFill>
                <a:latin typeface="Arial"/>
                <a:ea typeface="Arial"/>
                <a:cs typeface="Arial"/>
              </a:rPr>
              <a:t>Se aplica la prioridad explicada en la página de resultados.</a:t>
            </a:r>
          </a:p>
        </p:txBody>
      </p:sp>
    </p:spTree>
    <p:extLst>
      <p:ext uri="{BB962C8B-B14F-4D97-AF65-F5344CB8AC3E}">
        <p14:creationId xmlns:p14="http://schemas.microsoft.com/office/powerpoint/2010/main" val="173108015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2026-10-07T20:10:11.1550000Z</dcterms:created>
  <dcterms:modified xsi:type="dcterms:W3CDTF">2026-10-07T20:10:11.1550000Z</dcterms:modified>
</coreProperties>
</file>