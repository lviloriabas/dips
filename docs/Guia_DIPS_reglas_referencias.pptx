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8e5a0fc0b54d92" /><Relationship Type="http://schemas.openxmlformats.org/officeDocument/2006/relationships/extended-properties" Target="/docProps/app.xml" Id="R5e29ff7f3a1e47ba" /><Relationship Type="http://schemas.openxmlformats.org/officeDocument/2006/relationships/officeDocument" Target="/ppt/presentation.xml" Id="R064e87b97dff47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745854fc374880"/>
  </p:sldMasterIdLst>
  <p:notesMasterIdLst>
    <p:notesMasterId xmlns:r="http://schemas.openxmlformats.org/officeDocument/2006/relationships" r:id="Rbb141aa091524497"/>
  </p:notesMasterIdLst>
  <p:sldIdLst>
    <p:sldId xmlns:r="http://schemas.openxmlformats.org/officeDocument/2006/relationships" id="256" r:id="Rf4d04a1fd5af44d0"/>
    <p:sldId xmlns:r="http://schemas.openxmlformats.org/officeDocument/2006/relationships" id="257" r:id="R67aba973fcb94847"/>
    <p:sldId xmlns:r="http://schemas.openxmlformats.org/officeDocument/2006/relationships" id="258" r:id="Rb90340e7fa4b434c"/>
  </p:sldIdLst>
  <p:sldSz cx="9753600" cy="14630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6312862af14f51" /><Relationship Type="http://schemas.openxmlformats.org/officeDocument/2006/relationships/slideMaster" Target="/ppt/slideMasters/slideMaster1.xml" Id="R02745854fc374880" /><Relationship Type="http://schemas.openxmlformats.org/officeDocument/2006/relationships/notesMaster" Target="/ppt/notesMasters/notesMaster1.xml" Id="Rbb141aa091524497" /><Relationship Type="http://schemas.openxmlformats.org/officeDocument/2006/relationships/presProps" Target="/ppt/presProps.xml" Id="R919283c7c5ab4b88" /><Relationship Type="http://schemas.openxmlformats.org/officeDocument/2006/relationships/tableStyles" Target="/ppt/tableStyles.xml" Id="R1423fe2d99de487b" /><Relationship Type="http://schemas.openxmlformats.org/officeDocument/2006/relationships/slide" Target="/ppt/slides/slide1.xml" Id="Rf4d04a1fd5af44d0" /><Relationship Type="http://schemas.openxmlformats.org/officeDocument/2006/relationships/slide" Target="/ppt/slides/slide2.xml" Id="R67aba973fcb94847" /><Relationship Type="http://schemas.openxmlformats.org/officeDocument/2006/relationships/slide" Target="/ppt/slides/slide3.xml" Id="Rb90340e7fa4b43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4c4e4feed14c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6f1b79d3704587" /><Relationship Type="http://schemas.openxmlformats.org/officeDocument/2006/relationships/notesMaster" Target="/ppt/notesMasters/notesMaster1.xml" Id="Ra74a477adaf741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278975e27646b7" /><Relationship Type="http://schemas.openxmlformats.org/officeDocument/2006/relationships/notesMaster" Target="/ppt/notesMasters/notesMaster1.xml" Id="Rf5c4aeee9d0742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9a012a37b54f9e" /><Relationship Type="http://schemas.openxmlformats.org/officeDocument/2006/relationships/notesMaster" Target="/ppt/notesMasters/notesMaster1.xml" Id="Rdf6050a3afa24c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auditar.bat, filtrar.bat, comparar.bat, dips_audit/__main__.py.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config/discrepancias.yaml, dips_audit/discrepancias.py.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config/config.yaml, dips_audit/referencias.py, DIPs References.xlsx.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e512f4e2d04f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114f5d01ad4625" /><Relationship Type="http://schemas.openxmlformats.org/officeDocument/2006/relationships/slideLayout" Target="/ppt/slideLayouts/slideLayout1.xml" Id="R52421d15368143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421d15368143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34495ea6044e6" /><Relationship Type="http://schemas.openxmlformats.org/officeDocument/2006/relationships/image" Target="/ppt/media/image.png" Id="R3a6e739c327d42c7" /><Relationship Type="http://schemas.openxmlformats.org/officeDocument/2006/relationships/image" Target="/ppt/media/image2.png" Id="Reba084e84bbb4593" /><Relationship Type="http://schemas.openxmlformats.org/officeDocument/2006/relationships/notesSlide" Target="/ppt/notesSlides/notesSlide1.xml" Id="R9c338f658e4d4b5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ecc6993ee34fb0" /><Relationship Type="http://schemas.openxmlformats.org/officeDocument/2006/relationships/image" Target="/ppt/media/image3.png" Id="R54d510a854ef4dad" /><Relationship Type="http://schemas.openxmlformats.org/officeDocument/2006/relationships/image" Target="/ppt/media/image4.png" Id="R6cb6191ba2c547a6" /><Relationship Type="http://schemas.openxmlformats.org/officeDocument/2006/relationships/notesSlide" Target="/ppt/notesSlides/notesSlide2.xml" Id="R4778020176244e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4def3fa4d64576" /><Relationship Type="http://schemas.openxmlformats.org/officeDocument/2006/relationships/image" Target="/ppt/media/image5.png" Id="Rfe3976f00d77417f" /><Relationship Type="http://schemas.openxmlformats.org/officeDocument/2006/relationships/image" Target="/ppt/media/image6.png" Id="Ra8729cc9dbf14170" /><Relationship Type="http://schemas.openxmlformats.org/officeDocument/2006/relationships/hyperlink" Target="https://copaairlines.sharepoint.com/:x:/r/teams/VP_Tecnica/dacre/records/_layouts/15/doc2.aspx?sourcedoc={71427FA7-2DB0-4851-A5BA-63F30401684E}&amp;file=DIPs References.xlsx&amp;action=default&amp;mobileredirect=true" TargetMode="External" Id="R4d68707d1dcb46db" /><Relationship Type="http://schemas.openxmlformats.org/officeDocument/2006/relationships/notesSlide" Target="/ppt/notesSlides/notesSlide3.xml" Id="Rdbd5a5dbbc5f40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F2F0F8-8344-452E-A759-16A366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BE106-8AD0-4A35-8FC0-D00D0B0F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29787-FF74-46BF-B7F1-2A53960C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E60D1-A261-4664-854B-7D954D0E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0F789-D394-4A04-AC07-C0BE9DC0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USO DEL PROGRAMA</a:t>
            </a:r>
          </a:p>
        </p:txBody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e739c327d42c7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EF34F-8C43-41EF-8384-0EC5BF69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a084e84bbb4593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80BE5-8A58-4426-8962-125FE2A7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7939B-2FDB-4F30-9C19-8D440827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9CACB-AB02-4050-9B2B-66D06EF0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una terminal (CMD o PowerShell) en la carpeta DIPS.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29D9D-725F-429E-A33A-2CC886E6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esta guía,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$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un comando y se omite al escribirlo.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5040E-E27E-4D6A-8C20-1B154AA7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entrada.xlsx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el nombre o la ruta de su archivo.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45543-D062-4A6A-9511-AA8E0C87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30505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238D4-5219-4067-A628-69FAF7EB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CF061-179D-4724-8894-28B23CD5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EF477-7EB8-410A-B750-C8E27EC3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INSTALACIÓN Y AUDITORÍA CON EXCEL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996E2-7B09-4772-8C99-D9D5E8BF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Primera instalación: ejecute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.\setup.bat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una vez.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47A6D0-936C-4751-BE7D-C2231050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Después audite el Excel con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.\auditar.bat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o arrástrelo sobre ese archivo.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40A9C-90B0-414A-9343-5C4F6933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229DF-992A-412E-BAA6-D0630024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0AFA40-858C-4377-BD27-3F6DDB1E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.\setup.bat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8B8CB3-1BA1-4B86-B701-8674A962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C80422-6612-4407-AE7A-C0D4CDF7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F4924-7910-435D-A113-C69E3E5C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990DC-6990-4881-8474-803EE312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86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E5B093-AD59-4417-94F0-035D2762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149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ICAM Y PENDIENTES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155B97-C986-445C-BB46-0DEEB089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B0C92E-9165-47BC-ABC0-69680BD4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341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FADFE3-73F7-4EB5-834B-649F3322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627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 --icam --pendientes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BF5970-A726-4A87-BAE9-4D9293CC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38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--icam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consulta ICAM. Inicie sesión si Edge la pide.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E29782-F9A5-4AEE-B6EB-12FE4CD1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19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--pendientes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deja ACTV sin DIP Open Audit User 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DDA3BB-8A79-4F69-98F3-A0C58A83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48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COMPLETE sin DIP Closed Audit User. Quite la opción para auditar todos.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F396D7-4C97-4ED3-84B4-C8A2A981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77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Crea una copia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FILTERED.xlsx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junto al archivo original.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A1E759-9EF4-4BAC-834B-0BCD475D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048897-F14B-4BBF-B069-299AA93F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15FD33-7E83-47B2-A0C6-67B1A1D8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4201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1147BB-F3B0-4D7E-AD1B-8F511FE6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486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CONSULTA POR BARCODE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3071D4-9D2E-43F6-B875-0527A112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72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Consulte un DIP en ICAM sin cargar un Excel.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05FCB9-A5C8-4003-BA58-1231D33D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201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el barcode de ejemplo por el barcode real.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41B29F-AE21-4034-82C6-D5B6AAD5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821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09FB56-A320-4FFC-B8BF-B29A2C5D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6774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D23A8A-FB69-4ECC-8886-2F065FFE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T40S0099V9C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696CE1-E525-4E55-ABAF-68B61D36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3822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muestra los datos, el resultado y los hallazgos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8BDCFA-C739-4A74-BC77-B7647FB3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108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la terminal. Esta consulta no genera un Excel de resultado.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35579B-BA03-4962-8DBA-D6C26DF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258550"/>
            <a:ext cx="9144000" cy="16859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3D96DF-171C-45C9-9518-B92B39FD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4905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Resultado: carpeta </a:t>
            </a:r>
            <a:r>
              <a:rPr sz="16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salida/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284CF0-9F41-410B-92E3-09E0126B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395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Revise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RESULTADO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HALLAZGOS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VERIFICACIÓN MANUAL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33F2CE8-81DE-4737-B097-6387EF16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681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POSIBLE DISCREPANCIA: leer hallazgo. REVISAR: consultar manual.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971A8E9-0C91-40C9-9E5C-A7434CA7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967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SIN FUENTE EN DIPS REFERENCES: verificar referencia.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B4967CA-71C2-4BFB-8EEC-6EBC913A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253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42D48"/>
                </a:solidFill>
                <a:latin typeface="Arial"/>
                <a:ea typeface="Arial"/>
                <a:cs typeface="Arial"/>
              </a:rPr>
              <a:t>CORREGIDO EN CIERRE y OK: completar revisión manual.</a:t>
            </a:r>
          </a:p>
        </p:txBody>
      </p:sp>
    </p:spTree>
    <p:extLst>
      <p:ext uri="{BB962C8B-B14F-4D97-AF65-F5344CB8AC3E}">
        <p14:creationId xmlns:p14="http://schemas.microsoft.com/office/powerpoint/2010/main" val="458506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D39CFF-7B1C-4597-9CD3-13E1CB1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726E5-319B-4885-A80B-F9A97A8B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B8E23-CA1F-4EAE-8381-B85017B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E3794-3139-46DF-8FFD-4CB53F9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9B84-EB48-4195-B6E6-679E3A92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CONFIGURACIÓN DEL YAML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d510a854ef4dad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1244C-2DF0-4361-A191-0BF4F805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6191ba2c547a6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D527D-3D95-41E4-9CF0-40A79EF7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263DD-7493-462B-AD9D-C1639BB5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D2934E-CF3C-4F20-B313-05144196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config/discrepancias.yaml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cambie la regla y guarde.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14BA7-CF7E-412D-A1D6-1D21EC3F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siguiente auditoría valida el YAML. Conserve la sangría con espacios.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3E71B-E5BE-49A5-B153-0495E4C0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C7881-9D3F-4BB7-8716-79D3145D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33C60-17FD-47FA-9560-CE1AC1B8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636DE-0988-49F2-81DC-EF053745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SEVERIDAD DE UNA REGLA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3645C-803A-4EFE-86AD-9B6E36A9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Ejemplo de un bloque existente: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B6075C-F610-42F6-B13C-9030592E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8686800" cy="14859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E869CE-78F6-41B5-8777-7C7B884A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96FED-4817-44F4-8107-DB4B3C6D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tipos: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1441CE-9FED-405B-997F-2FFE8D7C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Incorrect DIP Interval: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0BB699-DAE1-4200-968A-CF8CAE2A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reglas: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C1B7E7-4894-4C99-9B38-F26542D5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intervalo_excedido: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POSIBLE DISCREPANCIA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BA99C6-E7DD-48DB-8758-EC384DD2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intervalo_menor: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OK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88FE10-1E56-4804-90B0-4FBE0048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2476500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D834A7-78A3-43EF-A8FC-1DF309A0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14DDD2-85A7-43B4-85F0-50913AE3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9A9C03-353F-4F09-B320-73E654F5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864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DESACTIVAR Y REACTIVAR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9EA73E-719A-46A5-84E3-2A6251AD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desactivar una regla, sustituya su línea por: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E4FE49-792B-4B3D-8BF0-898F052F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9130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9DECB5-58C0-44CC-9227-AE3F2103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865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74D1F7-FE5C-47B8-89A7-757D217E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151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intervalo_excedido: {activa: false, severidad: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POSIBLE DISCREPANCIA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68ABA4-B2FE-4992-84CC-B28D934D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91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Reactivar: cambie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 Para todo un tipo, ponga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05F0D9-92A6-4CBF-B945-ACAFC05D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activo: 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a la altura de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reglas: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88D1D6-2EE2-46C8-B034-59CCE9E4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3314700"/>
          </a:xfrm>
          <a:prstGeom xmlns:a="http://schemas.openxmlformats.org/drawingml/2006/main" prst="roundRect">
            <a:avLst>
              <a:gd name="adj" fmla="val 4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DE0965-EA19-4016-AD32-A9D66E09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B6F440-527A-4615-8566-4E6EDB30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629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60161B-305E-467D-8405-E6859D4D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3915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VALORES DISPONIBLES</a:t>
            </a:r>
          </a:p>
        </p:txBody>
      </p:sp>
      <p:graphicFrame>
        <p:nvGraphicFramePr>
          <p:cNvPr id="88" name=""/>
          <p:cNvGraphicFramePr/>
          <p:nvPr/>
        </p:nvGraphicFramePr>
        <p:xfrm>
          <a:off xmlns:a="http://schemas.openxmlformats.org/drawingml/2006/main" x="533400" y="8915400"/>
          <a:ext xmlns:a="http://schemas.openxmlformats.org/drawingml/2006/main" cx="8686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4305300"/>
              </a:tblGrid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Valor en YAML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Efecto en el resultado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SIN FUENTE EN DIPS 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SIN FUENTE EN DIPS 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OK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OK si no hay otros hallazgos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F25720-BB60-413D-A5CC-2864BB2B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163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Prevalece el hallazgo de mayor severidad.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7781D5-10D8-4F41-9AC0-274A484C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9144000" cy="14573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57297C-EBE3-48A1-83E4-DE4A929C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Configuración desde el YAML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E48DCF-525C-48F4-AAA2-919A9FED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920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YAML configura qué chequeos disponibles se informan y su severidad.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907284-B347-40B8-808B-82758E33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206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config/discrepancias.yaml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guarde.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A2339D-BF86-4CD7-85EE-15655ECD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8492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CORREGIDO EN CIERRE se calcula; no se asigna a una regla.</a:t>
            </a:r>
          </a:p>
        </p:txBody>
      </p:sp>
    </p:spTree>
    <p:extLst>
      <p:ext uri="{BB962C8B-B14F-4D97-AF65-F5344CB8AC3E}">
        <p14:creationId xmlns:p14="http://schemas.microsoft.com/office/powerpoint/2010/main" val="17310801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9253AA-8B26-489D-A3C8-4B13BDFE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1C36-C722-40B0-9459-ADD6C84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E3BD-D43F-4A74-B481-1B6F6A3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3601-3BC3-41D5-B6F8-76C9168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2472A-27E2-4C3D-ADED-41A32F31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REFERENCIAS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3976f00d77417f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BF6DB-D2D1-4962-8067-BA975E9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729cc9dbf14170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DED55-6C39-4758-A368-CC89308F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E4EC-A1F7-4595-8DE5-69FA9133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6B8B8-4745-4EFF-847E-FA6D419A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tabla aporta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TA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RIR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Parent Assembly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la fuente técnica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CBEAA-4FDF-4F65-A2B2-0DAF47A9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 los que el programa revisa cada DIP.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A66A4-C75B-49DF-8839-3A0372C7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514600"/>
          </a:xfrm>
          <a:prstGeom xmlns:a="http://schemas.openxmlformats.org/drawingml/2006/main" prst="roundRect">
            <a:avLst>
              <a:gd name="adj" fmla="val 53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D7A76-D2E6-4B7E-B59E-66EA4978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8DD4E8-AC0C-4181-B73D-1C649E30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5D8B15-4892-499C-B522-560344B6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ARCHIVO Y ENLACE COMPARTIDO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325F5-B479-4EAF-ADF1-BDBA1E05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Archivo local: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DIPs References.xlsx</a:t>
            </a: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, en la carpeta DIPS.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8B9309-5244-4F20-82AA-717732F9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Hoja: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References</a:t>
            </a: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61E03-A3A5-492E-9FF8-607C95A7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6BBE"/>
                </a:solidFill>
                <a:latin typeface="Arial"/>
                <a:ea typeface="Arial"/>
                <a:cs typeface="Arial"/>
                <a:hlinkClick xmlns:r="http://schemas.openxmlformats.org/officeDocument/2006/relationships" r:id="R4d68707d1dcb46db"/>
              </a:rPr>
              <a:t>Abrir DIPs References.xlsx en SharePoint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2650D-6E84-413A-B044-C71AD242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config/config.yaml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referencias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el archivo,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EACC44-84D0-453B-A7C4-7CE20E37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95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hoja_referencias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la hoja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referencias_sharepoint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el enlace.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526123-F8B7-4EAE-82EA-D818D37A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cambiar el enlace, copie la URL del archivo compartido.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8EE9A5-6530-4946-9B2F-CF209F30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72100"/>
            <a:ext cx="9144000" cy="2686050"/>
          </a:xfrm>
          <a:prstGeom xmlns:a="http://schemas.openxmlformats.org/drawingml/2006/main" prst="roundRect">
            <a:avLst>
              <a:gd name="adj" fmla="val 49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02230A-692A-4DF0-B904-6C48D061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721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E000AE-1798-43C0-B359-9CA9C5C9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E12035-EB8A-4C66-B669-D2100882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959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AGREGAR O CORREGIR UNA REFERENCIA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ACE785-68B2-4446-B6CD-C45461BD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19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una fila con valores aprobados. Conserve los encabezados.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9025F1-9FB6-4DDD-91A0-C83A5896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48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Use una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DESCRIPTION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precisa para reconocer el componente.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58A368-A712-4A73-B182-151F68F0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94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0FF2C1-91B7-48B5-B1E4-8EFC773A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7246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Columnas del Excel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3FA11F-2427-4B40-81A0-EBCCA635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532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TYPE, AREA, ATA, FLEET, DESCRIPTION,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E3B225-9B35-492F-A4E7-486BFD6B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1628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PARENT ASSY, REFERENCES, TA, RIR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7B0391-DFA3-42A6-862C-DE21608A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9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TA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RIR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llevan unidad. Ejemplo de formato: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30 DAYS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DCB041-956E-4BB4-88AF-D5052910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86750"/>
            <a:ext cx="91440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B2ED0C-F033-499E-B7C5-2387C221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867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64D8BF-3063-4485-AC58-21441CF2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17E4C6-1DFD-4B56-A3C1-BCB031CB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105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QUÉ COPIA UTILIZA LA AUDITORÍA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E64C7F-9544-4C00-A0F6-C2DB908E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344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Intenta actualizar desde SharePoint. Inicie sesión si Edge la pide.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B88017-074F-47AA-8409-5D55AA32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63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 falla, usa la última descarga válida o el archivo local inicial.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A713D8-FD5F-4B35-860E-10685327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44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La terminal indica la copia utilizada y su fecha.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71442E4-8A97-4DFB-8262-DE474869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7726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Si ninguna copia es válida, la auditoría se detiene.</a:t>
            </a:r>
          </a:p>
        </p:txBody>
      </p:sp>
    </p:spTree>
    <p:extLst>
      <p:ext uri="{BB962C8B-B14F-4D97-AF65-F5344CB8AC3E}">
        <p14:creationId xmlns:p14="http://schemas.microsoft.com/office/powerpoint/2010/main" val="14334848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2026-10-07T14:04:57.6100000Z</dcterms:created>
  <dcterms:modified xsi:type="dcterms:W3CDTF">2026-10-07T14:04:57.6100000Z</dcterms:modified>
</coreProperties>
</file>